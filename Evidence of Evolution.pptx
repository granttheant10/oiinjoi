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560320"/>
            <a:ext cx="12188952" cy="1828800"/>
          </a:xfrm>
          <a:prstGeom prst="rect">
            <a:avLst/>
          </a:prstGeom>
          <a:solidFill>
            <a:srgbClr val="0F3A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0"/>
            <a:ext cx="11274552" cy="1097280"/>
          </a:xfrm>
          <a:prstGeom prst="rect">
            <a:avLst/>
          </a:prstGeom>
          <a:noFill/>
        </p:spPr>
        <p:txBody>
          <a:bodyPr wrap="square">
            <a:spAutoFit/>
          </a:bodyPr>
          <a:lstStyle/>
          <a:p>
            <a:pPr algn="ctr"/>
            <a:r>
              <a:rPr b="1" i="0" sz="4800">
                <a:solidFill>
                  <a:srgbClr val="FFD700"/>
                </a:solidFill>
              </a:rPr>
              <a:t>Evidence of Evolution</a:t>
            </a:r>
          </a:p>
        </p:txBody>
      </p:sp>
      <p:sp>
        <p:nvSpPr>
          <p:cNvPr id="5" name="TextBox 4"/>
          <p:cNvSpPr txBox="1"/>
          <p:nvPr/>
        </p:nvSpPr>
        <p:spPr>
          <a:xfrm>
            <a:off x="457200" y="3749039"/>
            <a:ext cx="11274552" cy="640080"/>
          </a:xfrm>
          <a:prstGeom prst="rect">
            <a:avLst/>
          </a:prstGeom>
          <a:noFill/>
        </p:spPr>
        <p:txBody>
          <a:bodyPr wrap="square">
            <a:spAutoFit/>
          </a:bodyPr>
          <a:lstStyle/>
          <a:p>
            <a:pPr algn="ctr"/>
            <a:r>
              <a:rPr b="0" i="0" sz="2200">
                <a:solidFill>
                  <a:srgbClr val="CCE5FF"/>
                </a:solidFill>
              </a:rPr>
              <a:t>A Look at 5 Types of Scientific Evidence</a:t>
            </a:r>
          </a:p>
        </p:txBody>
      </p:sp>
      <p:sp>
        <p:nvSpPr>
          <p:cNvPr id="6" name="TextBox 5"/>
          <p:cNvSpPr txBox="1"/>
          <p:nvPr/>
        </p:nvSpPr>
        <p:spPr>
          <a:xfrm>
            <a:off x="457200" y="4572000"/>
            <a:ext cx="11274552" cy="548640"/>
          </a:xfrm>
          <a:prstGeom prst="rect">
            <a:avLst/>
          </a:prstGeom>
          <a:noFill/>
        </p:spPr>
        <p:txBody>
          <a:bodyPr wrap="square">
            <a:spAutoFit/>
          </a:bodyPr>
          <a:lstStyle/>
          <a:p>
            <a:pPr algn="ctr"/>
            <a:r>
              <a:rPr b="0" i="1" sz="1600">
                <a:solidFill>
                  <a:srgbClr val="FFFFFF"/>
                </a:solidFill>
              </a:rPr>
              <a:t>Paleontology  ·  Biogeography  ·  Embryology  ·  Anatomy  ·  Biochemistry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005840"/>
          </a:xfrm>
          <a:prstGeom prst="rect">
            <a:avLst/>
          </a:prstGeom>
          <a:solidFill>
            <a:srgbClr val="8B45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943600"/>
            <a:ext cx="12188952" cy="914400"/>
          </a:xfrm>
          <a:prstGeom prst="rect">
            <a:avLst/>
          </a:prstGeom>
          <a:solidFill>
            <a:srgbClr val="8B45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1440"/>
            <a:ext cx="11274552" cy="822960"/>
          </a:xfrm>
          <a:prstGeom prst="rect">
            <a:avLst/>
          </a:prstGeom>
          <a:noFill/>
        </p:spPr>
        <p:txBody>
          <a:bodyPr wrap="square">
            <a:spAutoFit/>
          </a:bodyPr>
          <a:lstStyle/>
          <a:p>
            <a:pPr algn="ctr"/>
            <a:r>
              <a:rPr b="1" i="0" sz="3600">
                <a:solidFill>
                  <a:srgbClr val="FFD700"/>
                </a:solidFill>
              </a:rPr>
              <a:t>Paleontology</a:t>
            </a:r>
          </a:p>
        </p:txBody>
      </p:sp>
      <p:sp>
        <p:nvSpPr>
          <p:cNvPr id="6" name="TextBox 5"/>
          <p:cNvSpPr txBox="1"/>
          <p:nvPr/>
        </p:nvSpPr>
        <p:spPr>
          <a:xfrm>
            <a:off x="1371600" y="1828800"/>
            <a:ext cx="9445752" cy="3200400"/>
          </a:xfrm>
          <a:prstGeom prst="rect">
            <a:avLst/>
          </a:prstGeom>
          <a:noFill/>
        </p:spPr>
        <p:txBody>
          <a:bodyPr wrap="square">
            <a:spAutoFit/>
          </a:bodyPr>
          <a:lstStyle/>
          <a:p>
            <a:pPr algn="ctr"/>
            <a:r>
              <a:rPr b="0" i="0" sz="2200">
                <a:solidFill>
                  <a:srgbClr val="FFFFFF"/>
                </a:solidFill>
              </a:rPr>
              <a:t>Paleontology studies fossils — the preserved remains of ancient life. Fossils show how living things changed over millions of years.</a:t>
            </a:r>
          </a:p>
        </p:txBody>
      </p:sp>
      <p:sp>
        <p:nvSpPr>
          <p:cNvPr id="7" name="TextBox 6"/>
          <p:cNvSpPr txBox="1"/>
          <p:nvPr/>
        </p:nvSpPr>
        <p:spPr>
          <a:xfrm>
            <a:off x="457200" y="5989320"/>
            <a:ext cx="11274552" cy="548640"/>
          </a:xfrm>
          <a:prstGeom prst="rect">
            <a:avLst/>
          </a:prstGeom>
          <a:noFill/>
        </p:spPr>
        <p:txBody>
          <a:bodyPr wrap="square">
            <a:spAutoFit/>
          </a:bodyPr>
          <a:lstStyle/>
          <a:p>
            <a:pPr algn="ctr"/>
            <a:r>
              <a:rPr b="0" i="1" sz="1400">
                <a:solidFill>
                  <a:srgbClr val="FFD700"/>
                </a:solidFill>
              </a:rPr>
              <a:t>Examples:  Archaeopteryx  ·  Tiktaalik  ·  Ambulocetus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60120"/>
          </a:xfrm>
          <a:prstGeom prst="rect">
            <a:avLst/>
          </a:prstGeom>
          <a:solidFill>
            <a:srgbClr val="8B45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143000"/>
            <a:ext cx="4114800" cy="3017520"/>
          </a:xfrm>
          <a:prstGeom prst="rect">
            <a:avLst/>
          </a:prstGeom>
          <a:solidFill>
            <a:srgbClr val="2E4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617720" y="1051560"/>
            <a:ext cx="45720" cy="5486400"/>
          </a:xfrm>
          <a:prstGeom prst="rect">
            <a:avLst/>
          </a:prstGeom>
          <a:solidFill>
            <a:srgbClr val="8B45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73152"/>
            <a:ext cx="11640312" cy="804672"/>
          </a:xfrm>
          <a:prstGeom prst="rect">
            <a:avLst/>
          </a:prstGeom>
          <a:noFill/>
        </p:spPr>
        <p:txBody>
          <a:bodyPr wrap="square">
            <a:spAutoFit/>
          </a:bodyPr>
          <a:lstStyle/>
          <a:p>
            <a:pPr algn="l"/>
            <a:r>
              <a:rPr b="1" i="0" sz="2600">
                <a:solidFill>
                  <a:srgbClr val="FFD700"/>
                </a:solidFill>
              </a:rPr>
              <a:t>Paleontology – Archaeopteryx</a:t>
            </a:r>
          </a:p>
        </p:txBody>
      </p:sp>
      <p:sp>
        <p:nvSpPr>
          <p:cNvPr id="7" name="TextBox 6"/>
          <p:cNvSpPr txBox="1"/>
          <p:nvPr/>
        </p:nvSpPr>
        <p:spPr>
          <a:xfrm>
            <a:off x="320040" y="2331720"/>
            <a:ext cx="4023360" cy="548640"/>
          </a:xfrm>
          <a:prstGeom prst="rect">
            <a:avLst/>
          </a:prstGeom>
          <a:noFill/>
        </p:spPr>
        <p:txBody>
          <a:bodyPr wrap="square">
            <a:spAutoFit/>
          </a:bodyPr>
          <a:lstStyle/>
          <a:p>
            <a:pPr algn="ctr"/>
            <a:r>
              <a:rPr b="0" i="1" sz="1300">
                <a:solidFill>
                  <a:srgbClr val="CCE5FF"/>
                </a:solidFill>
              </a:rPr>
              <a:t>[ Image: Archaeopteryx ]</a:t>
            </a:r>
          </a:p>
        </p:txBody>
      </p:sp>
      <p:sp>
        <p:nvSpPr>
          <p:cNvPr id="8" name="TextBox 7"/>
          <p:cNvSpPr txBox="1"/>
          <p:nvPr/>
        </p:nvSpPr>
        <p:spPr>
          <a:xfrm>
            <a:off x="274320" y="4251960"/>
            <a:ext cx="4114800" cy="548640"/>
          </a:xfrm>
          <a:prstGeom prst="rect">
            <a:avLst/>
          </a:prstGeom>
          <a:noFill/>
        </p:spPr>
        <p:txBody>
          <a:bodyPr wrap="square">
            <a:spAutoFit/>
          </a:bodyPr>
          <a:lstStyle/>
          <a:p>
            <a:pPr algn="l"/>
            <a:r>
              <a:rPr b="0" i="1" sz="1000">
                <a:solidFill>
                  <a:srgbClr val="CCE5FF"/>
                </a:solidFill>
              </a:rPr>
              <a:t>Source: Britannica – Archaeopteryx (britannica.com)</a:t>
            </a:r>
          </a:p>
        </p:txBody>
      </p:sp>
      <p:sp>
        <p:nvSpPr>
          <p:cNvPr id="9" name="TextBox 8"/>
          <p:cNvSpPr txBox="1"/>
          <p:nvPr/>
        </p:nvSpPr>
        <p:spPr>
          <a:xfrm>
            <a:off x="4846320" y="1097280"/>
            <a:ext cx="7040880" cy="365760"/>
          </a:xfrm>
          <a:prstGeom prst="rect">
            <a:avLst/>
          </a:prstGeom>
          <a:noFill/>
        </p:spPr>
        <p:txBody>
          <a:bodyPr wrap="square">
            <a:spAutoFit/>
          </a:bodyPr>
          <a:lstStyle/>
          <a:p>
            <a:pPr algn="l"/>
            <a:r>
              <a:rPr b="1" i="0" sz="1500">
                <a:solidFill>
                  <a:srgbClr val="FFD700"/>
                </a:solidFill>
              </a:rPr>
              <a:t>Description</a:t>
            </a:r>
          </a:p>
        </p:txBody>
      </p:sp>
      <p:sp>
        <p:nvSpPr>
          <p:cNvPr id="10" name="TextBox 9"/>
          <p:cNvSpPr txBox="1"/>
          <p:nvPr/>
        </p:nvSpPr>
        <p:spPr>
          <a:xfrm>
            <a:off x="4846320" y="1463040"/>
            <a:ext cx="7040880" cy="1371600"/>
          </a:xfrm>
          <a:prstGeom prst="rect">
            <a:avLst/>
          </a:prstGeom>
          <a:noFill/>
        </p:spPr>
        <p:txBody>
          <a:bodyPr wrap="square">
            <a:spAutoFit/>
          </a:bodyPr>
          <a:lstStyle/>
          <a:p>
            <a:pPr algn="l">
              <a:spcBef>
                <a:spcPts val="200"/>
              </a:spcBef>
            </a:pPr>
            <a:r>
              <a:rPr sz="1300" b="0">
                <a:solidFill>
                  <a:srgbClr val="FFFFFF"/>
                </a:solidFill>
              </a:rPr>
              <a:t>• Lived about 150 million years ago</a:t>
            </a:r>
          </a:p>
          <a:p>
            <a:pPr algn="l">
              <a:spcBef>
                <a:spcPts val="200"/>
              </a:spcBef>
            </a:pPr>
            <a:r>
              <a:rPr sz="1300" b="0">
                <a:solidFill>
                  <a:srgbClr val="FFFFFF"/>
                </a:solidFill>
              </a:rPr>
              <a:t>• Had feathers AND bone wings like a bird, but also had teeth and clawed fingers like a dinosaur</a:t>
            </a:r>
          </a:p>
          <a:p>
            <a:pPr algn="l">
              <a:spcBef>
                <a:spcPts val="200"/>
              </a:spcBef>
            </a:pPr>
            <a:r>
              <a:rPr sz="1300" b="0">
                <a:solidFill>
                  <a:srgbClr val="FFFFFF"/>
                </a:solidFill>
              </a:rPr>
              <a:t>• Found in limestone rocks in Germany</a:t>
            </a:r>
          </a:p>
        </p:txBody>
      </p:sp>
      <p:sp>
        <p:nvSpPr>
          <p:cNvPr id="11" name="TextBox 10"/>
          <p:cNvSpPr txBox="1"/>
          <p:nvPr/>
        </p:nvSpPr>
        <p:spPr>
          <a:xfrm>
            <a:off x="4846320" y="2971800"/>
            <a:ext cx="7040880" cy="365760"/>
          </a:xfrm>
          <a:prstGeom prst="rect">
            <a:avLst/>
          </a:prstGeom>
          <a:noFill/>
        </p:spPr>
        <p:txBody>
          <a:bodyPr wrap="square">
            <a:spAutoFit/>
          </a:bodyPr>
          <a:lstStyle/>
          <a:p>
            <a:pPr algn="l"/>
            <a:r>
              <a:rPr b="1" i="0" sz="1500">
                <a:solidFill>
                  <a:srgbClr val="FFD700"/>
                </a:solidFill>
              </a:rPr>
              <a:t>How does this support evolution?</a:t>
            </a:r>
          </a:p>
        </p:txBody>
      </p:sp>
      <p:sp>
        <p:nvSpPr>
          <p:cNvPr id="12" name="TextBox 11"/>
          <p:cNvSpPr txBox="1"/>
          <p:nvPr/>
        </p:nvSpPr>
        <p:spPr>
          <a:xfrm>
            <a:off x="4846320" y="3337560"/>
            <a:ext cx="7040880" cy="2011680"/>
          </a:xfrm>
          <a:prstGeom prst="rect">
            <a:avLst/>
          </a:prstGeom>
          <a:noFill/>
        </p:spPr>
        <p:txBody>
          <a:bodyPr wrap="square">
            <a:spAutoFit/>
          </a:bodyPr>
          <a:lstStyle/>
          <a:p>
            <a:pPr algn="l"/>
            <a:r>
              <a:rPr b="0" i="0" sz="1300">
                <a:solidFill>
                  <a:srgbClr val="CCE5FF"/>
                </a:solidFill>
              </a:rPr>
              <a:t>Archaeopteryx shows features of both dinosaurs and modern birds in the same animal. This supports evolution because it is a 'transition fossil' — evidence that birds slowly evolved from small feathered dinosaurs over a long time.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60120"/>
          </a:xfrm>
          <a:prstGeom prst="rect">
            <a:avLst/>
          </a:prstGeom>
          <a:solidFill>
            <a:srgbClr val="8B45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143000"/>
            <a:ext cx="4114800" cy="3017520"/>
          </a:xfrm>
          <a:prstGeom prst="rect">
            <a:avLst/>
          </a:prstGeom>
          <a:solidFill>
            <a:srgbClr val="2E4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617720" y="1051560"/>
            <a:ext cx="45720" cy="5486400"/>
          </a:xfrm>
          <a:prstGeom prst="rect">
            <a:avLst/>
          </a:prstGeom>
          <a:solidFill>
            <a:srgbClr val="8B45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73152"/>
            <a:ext cx="11640312" cy="804672"/>
          </a:xfrm>
          <a:prstGeom prst="rect">
            <a:avLst/>
          </a:prstGeom>
          <a:noFill/>
        </p:spPr>
        <p:txBody>
          <a:bodyPr wrap="square">
            <a:spAutoFit/>
          </a:bodyPr>
          <a:lstStyle/>
          <a:p>
            <a:pPr algn="l"/>
            <a:r>
              <a:rPr b="1" i="0" sz="2600">
                <a:solidFill>
                  <a:srgbClr val="FFD700"/>
                </a:solidFill>
              </a:rPr>
              <a:t>Paleontology – Tiktaalik</a:t>
            </a:r>
          </a:p>
        </p:txBody>
      </p:sp>
      <p:sp>
        <p:nvSpPr>
          <p:cNvPr id="7" name="TextBox 6"/>
          <p:cNvSpPr txBox="1"/>
          <p:nvPr/>
        </p:nvSpPr>
        <p:spPr>
          <a:xfrm>
            <a:off x="320040" y="2331720"/>
            <a:ext cx="4023360" cy="548640"/>
          </a:xfrm>
          <a:prstGeom prst="rect">
            <a:avLst/>
          </a:prstGeom>
          <a:noFill/>
        </p:spPr>
        <p:txBody>
          <a:bodyPr wrap="square">
            <a:spAutoFit/>
          </a:bodyPr>
          <a:lstStyle/>
          <a:p>
            <a:pPr algn="ctr"/>
            <a:r>
              <a:rPr b="0" i="1" sz="1300">
                <a:solidFill>
                  <a:srgbClr val="CCE5FF"/>
                </a:solidFill>
              </a:rPr>
              <a:t>[ Image: Tiktaalik ]</a:t>
            </a:r>
          </a:p>
        </p:txBody>
      </p:sp>
      <p:sp>
        <p:nvSpPr>
          <p:cNvPr id="8" name="TextBox 7"/>
          <p:cNvSpPr txBox="1"/>
          <p:nvPr/>
        </p:nvSpPr>
        <p:spPr>
          <a:xfrm>
            <a:off x="274320" y="4251960"/>
            <a:ext cx="4114800" cy="548640"/>
          </a:xfrm>
          <a:prstGeom prst="rect">
            <a:avLst/>
          </a:prstGeom>
          <a:noFill/>
        </p:spPr>
        <p:txBody>
          <a:bodyPr wrap="square">
            <a:spAutoFit/>
          </a:bodyPr>
          <a:lstStyle/>
          <a:p>
            <a:pPr algn="l"/>
            <a:r>
              <a:rPr b="0" i="1" sz="1000">
                <a:solidFill>
                  <a:srgbClr val="CCE5FF"/>
                </a:solidFill>
              </a:rPr>
              <a:t>Source: National Geographic – Tiktaalik (nationalgeographic.com)</a:t>
            </a:r>
          </a:p>
        </p:txBody>
      </p:sp>
      <p:sp>
        <p:nvSpPr>
          <p:cNvPr id="9" name="TextBox 8"/>
          <p:cNvSpPr txBox="1"/>
          <p:nvPr/>
        </p:nvSpPr>
        <p:spPr>
          <a:xfrm>
            <a:off x="4846320" y="1097280"/>
            <a:ext cx="7040880" cy="365760"/>
          </a:xfrm>
          <a:prstGeom prst="rect">
            <a:avLst/>
          </a:prstGeom>
          <a:noFill/>
        </p:spPr>
        <p:txBody>
          <a:bodyPr wrap="square">
            <a:spAutoFit/>
          </a:bodyPr>
          <a:lstStyle/>
          <a:p>
            <a:pPr algn="l"/>
            <a:r>
              <a:rPr b="1" i="0" sz="1500">
                <a:solidFill>
                  <a:srgbClr val="FFD700"/>
                </a:solidFill>
              </a:rPr>
              <a:t>Description</a:t>
            </a:r>
          </a:p>
        </p:txBody>
      </p:sp>
      <p:sp>
        <p:nvSpPr>
          <p:cNvPr id="10" name="TextBox 9"/>
          <p:cNvSpPr txBox="1"/>
          <p:nvPr/>
        </p:nvSpPr>
        <p:spPr>
          <a:xfrm>
            <a:off x="4846320" y="1463040"/>
            <a:ext cx="7040880" cy="1371600"/>
          </a:xfrm>
          <a:prstGeom prst="rect">
            <a:avLst/>
          </a:prstGeom>
          <a:noFill/>
        </p:spPr>
        <p:txBody>
          <a:bodyPr wrap="square">
            <a:spAutoFit/>
          </a:bodyPr>
          <a:lstStyle/>
          <a:p>
            <a:pPr algn="l">
              <a:spcBef>
                <a:spcPts val="200"/>
              </a:spcBef>
            </a:pPr>
            <a:r>
              <a:rPr sz="1300" b="0">
                <a:solidFill>
                  <a:srgbClr val="FFFFFF"/>
                </a:solidFill>
              </a:rPr>
              <a:t>• Lived about 375 million years ago in shallow water</a:t>
            </a:r>
          </a:p>
          <a:p>
            <a:pPr algn="l">
              <a:spcBef>
                <a:spcPts val="200"/>
              </a:spcBef>
            </a:pPr>
            <a:r>
              <a:rPr sz="1300" b="0">
                <a:solidFill>
                  <a:srgbClr val="FFFFFF"/>
                </a:solidFill>
              </a:rPr>
              <a:t>• Had fins, but the fins had bones that looked like an arm and wrist</a:t>
            </a:r>
          </a:p>
          <a:p>
            <a:pPr algn="l">
              <a:spcBef>
                <a:spcPts val="200"/>
              </a:spcBef>
            </a:pPr>
            <a:r>
              <a:rPr sz="1300" b="0">
                <a:solidFill>
                  <a:srgbClr val="FFFFFF"/>
                </a:solidFill>
              </a:rPr>
              <a:t>• Also had a flat head and a neck — features fish do not have</a:t>
            </a:r>
          </a:p>
        </p:txBody>
      </p:sp>
      <p:sp>
        <p:nvSpPr>
          <p:cNvPr id="11" name="TextBox 10"/>
          <p:cNvSpPr txBox="1"/>
          <p:nvPr/>
        </p:nvSpPr>
        <p:spPr>
          <a:xfrm>
            <a:off x="4846320" y="2971800"/>
            <a:ext cx="7040880" cy="365760"/>
          </a:xfrm>
          <a:prstGeom prst="rect">
            <a:avLst/>
          </a:prstGeom>
          <a:noFill/>
        </p:spPr>
        <p:txBody>
          <a:bodyPr wrap="square">
            <a:spAutoFit/>
          </a:bodyPr>
          <a:lstStyle/>
          <a:p>
            <a:pPr algn="l"/>
            <a:r>
              <a:rPr b="1" i="0" sz="1500">
                <a:solidFill>
                  <a:srgbClr val="FFD700"/>
                </a:solidFill>
              </a:rPr>
              <a:t>How does this support evolution?</a:t>
            </a:r>
          </a:p>
        </p:txBody>
      </p:sp>
      <p:sp>
        <p:nvSpPr>
          <p:cNvPr id="12" name="TextBox 11"/>
          <p:cNvSpPr txBox="1"/>
          <p:nvPr/>
        </p:nvSpPr>
        <p:spPr>
          <a:xfrm>
            <a:off x="4846320" y="3337560"/>
            <a:ext cx="7040880" cy="2011680"/>
          </a:xfrm>
          <a:prstGeom prst="rect">
            <a:avLst/>
          </a:prstGeom>
          <a:noFill/>
        </p:spPr>
        <p:txBody>
          <a:bodyPr wrap="square">
            <a:spAutoFit/>
          </a:bodyPr>
          <a:lstStyle/>
          <a:p>
            <a:pPr algn="l"/>
            <a:r>
              <a:rPr b="0" i="0" sz="1300">
                <a:solidFill>
                  <a:srgbClr val="CCE5FF"/>
                </a:solidFill>
              </a:rPr>
              <a:t>Tiktaalik shows a step between fish that swim and land animals that walk. Its fin-arms support the idea that land animals evolved from fish that slowly developed limbs.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60120"/>
          </a:xfrm>
          <a:prstGeom prst="rect">
            <a:avLst/>
          </a:prstGeom>
          <a:solidFill>
            <a:srgbClr val="8B45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143000"/>
            <a:ext cx="4114800" cy="3017520"/>
          </a:xfrm>
          <a:prstGeom prst="rect">
            <a:avLst/>
          </a:prstGeom>
          <a:solidFill>
            <a:srgbClr val="2E4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617720" y="1051560"/>
            <a:ext cx="45720" cy="5486400"/>
          </a:xfrm>
          <a:prstGeom prst="rect">
            <a:avLst/>
          </a:prstGeom>
          <a:solidFill>
            <a:srgbClr val="8B45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73152"/>
            <a:ext cx="11640312" cy="804672"/>
          </a:xfrm>
          <a:prstGeom prst="rect">
            <a:avLst/>
          </a:prstGeom>
          <a:noFill/>
        </p:spPr>
        <p:txBody>
          <a:bodyPr wrap="square">
            <a:spAutoFit/>
          </a:bodyPr>
          <a:lstStyle/>
          <a:p>
            <a:pPr algn="l"/>
            <a:r>
              <a:rPr b="1" i="0" sz="2600">
                <a:solidFill>
                  <a:srgbClr val="FFD700"/>
                </a:solidFill>
              </a:rPr>
              <a:t>Paleontology – Ambulocetus</a:t>
            </a:r>
          </a:p>
        </p:txBody>
      </p:sp>
      <p:sp>
        <p:nvSpPr>
          <p:cNvPr id="7" name="TextBox 6"/>
          <p:cNvSpPr txBox="1"/>
          <p:nvPr/>
        </p:nvSpPr>
        <p:spPr>
          <a:xfrm>
            <a:off x="320040" y="2331720"/>
            <a:ext cx="4023360" cy="548640"/>
          </a:xfrm>
          <a:prstGeom prst="rect">
            <a:avLst/>
          </a:prstGeom>
          <a:noFill/>
        </p:spPr>
        <p:txBody>
          <a:bodyPr wrap="square">
            <a:spAutoFit/>
          </a:bodyPr>
          <a:lstStyle/>
          <a:p>
            <a:pPr algn="ctr"/>
            <a:r>
              <a:rPr b="0" i="1" sz="1300">
                <a:solidFill>
                  <a:srgbClr val="CCE5FF"/>
                </a:solidFill>
              </a:rPr>
              <a:t>[ Image: Ambulocetus ]</a:t>
            </a:r>
          </a:p>
        </p:txBody>
      </p:sp>
      <p:sp>
        <p:nvSpPr>
          <p:cNvPr id="8" name="TextBox 7"/>
          <p:cNvSpPr txBox="1"/>
          <p:nvPr/>
        </p:nvSpPr>
        <p:spPr>
          <a:xfrm>
            <a:off x="274320" y="4251960"/>
            <a:ext cx="4114800" cy="548640"/>
          </a:xfrm>
          <a:prstGeom prst="rect">
            <a:avLst/>
          </a:prstGeom>
          <a:noFill/>
        </p:spPr>
        <p:txBody>
          <a:bodyPr wrap="square">
            <a:spAutoFit/>
          </a:bodyPr>
          <a:lstStyle/>
          <a:p>
            <a:pPr algn="l"/>
            <a:r>
              <a:rPr b="0" i="1" sz="1000">
                <a:solidFill>
                  <a:srgbClr val="CCE5FF"/>
                </a:solidFill>
              </a:rPr>
              <a:t>Source: Khan Academy – Evidence of Evolution (khanacademy.org)</a:t>
            </a:r>
          </a:p>
        </p:txBody>
      </p:sp>
      <p:sp>
        <p:nvSpPr>
          <p:cNvPr id="9" name="TextBox 8"/>
          <p:cNvSpPr txBox="1"/>
          <p:nvPr/>
        </p:nvSpPr>
        <p:spPr>
          <a:xfrm>
            <a:off x="4846320" y="1097280"/>
            <a:ext cx="7040880" cy="365760"/>
          </a:xfrm>
          <a:prstGeom prst="rect">
            <a:avLst/>
          </a:prstGeom>
          <a:noFill/>
        </p:spPr>
        <p:txBody>
          <a:bodyPr wrap="square">
            <a:spAutoFit/>
          </a:bodyPr>
          <a:lstStyle/>
          <a:p>
            <a:pPr algn="l"/>
            <a:r>
              <a:rPr b="1" i="0" sz="1500">
                <a:solidFill>
                  <a:srgbClr val="FFD700"/>
                </a:solidFill>
              </a:rPr>
              <a:t>Description</a:t>
            </a:r>
          </a:p>
        </p:txBody>
      </p:sp>
      <p:sp>
        <p:nvSpPr>
          <p:cNvPr id="10" name="TextBox 9"/>
          <p:cNvSpPr txBox="1"/>
          <p:nvPr/>
        </p:nvSpPr>
        <p:spPr>
          <a:xfrm>
            <a:off x="4846320" y="1463040"/>
            <a:ext cx="7040880" cy="1371600"/>
          </a:xfrm>
          <a:prstGeom prst="rect">
            <a:avLst/>
          </a:prstGeom>
          <a:noFill/>
        </p:spPr>
        <p:txBody>
          <a:bodyPr wrap="square">
            <a:spAutoFit/>
          </a:bodyPr>
          <a:lstStyle/>
          <a:p>
            <a:pPr algn="l">
              <a:spcBef>
                <a:spcPts val="200"/>
              </a:spcBef>
            </a:pPr>
            <a:r>
              <a:rPr sz="1300" b="0">
                <a:solidFill>
                  <a:srgbClr val="FFFFFF"/>
                </a:solidFill>
              </a:rPr>
              <a:t>• Lived about 48 million years ago</a:t>
            </a:r>
          </a:p>
          <a:p>
            <a:pPr algn="l">
              <a:spcBef>
                <a:spcPts val="200"/>
              </a:spcBef>
            </a:pPr>
            <a:r>
              <a:rPr sz="1300" b="0">
                <a:solidFill>
                  <a:srgbClr val="FFFFFF"/>
                </a:solidFill>
              </a:rPr>
              <a:t>• Had four legs but could also swim by moving its spine up and down</a:t>
            </a:r>
          </a:p>
          <a:p>
            <a:pPr algn="l">
              <a:spcBef>
                <a:spcPts val="200"/>
              </a:spcBef>
            </a:pPr>
            <a:r>
              <a:rPr sz="1300" b="0">
                <a:solidFill>
                  <a:srgbClr val="FFFFFF"/>
                </a:solidFill>
              </a:rPr>
              <a:t>• Related to early ancestors of modern whales</a:t>
            </a:r>
          </a:p>
        </p:txBody>
      </p:sp>
      <p:sp>
        <p:nvSpPr>
          <p:cNvPr id="11" name="TextBox 10"/>
          <p:cNvSpPr txBox="1"/>
          <p:nvPr/>
        </p:nvSpPr>
        <p:spPr>
          <a:xfrm>
            <a:off x="4846320" y="2971800"/>
            <a:ext cx="7040880" cy="365760"/>
          </a:xfrm>
          <a:prstGeom prst="rect">
            <a:avLst/>
          </a:prstGeom>
          <a:noFill/>
        </p:spPr>
        <p:txBody>
          <a:bodyPr wrap="square">
            <a:spAutoFit/>
          </a:bodyPr>
          <a:lstStyle/>
          <a:p>
            <a:pPr algn="l"/>
            <a:r>
              <a:rPr b="1" i="0" sz="1500">
                <a:solidFill>
                  <a:srgbClr val="FFD700"/>
                </a:solidFill>
              </a:rPr>
              <a:t>How does this support evolution?</a:t>
            </a:r>
          </a:p>
        </p:txBody>
      </p:sp>
      <p:sp>
        <p:nvSpPr>
          <p:cNvPr id="12" name="TextBox 11"/>
          <p:cNvSpPr txBox="1"/>
          <p:nvPr/>
        </p:nvSpPr>
        <p:spPr>
          <a:xfrm>
            <a:off x="4846320" y="3337560"/>
            <a:ext cx="7040880" cy="2011680"/>
          </a:xfrm>
          <a:prstGeom prst="rect">
            <a:avLst/>
          </a:prstGeom>
          <a:noFill/>
        </p:spPr>
        <p:txBody>
          <a:bodyPr wrap="square">
            <a:spAutoFit/>
          </a:bodyPr>
          <a:lstStyle/>
          <a:p>
            <a:pPr algn="l"/>
            <a:r>
              <a:rPr b="0" i="0" sz="1300">
                <a:solidFill>
                  <a:srgbClr val="CCE5FF"/>
                </a:solidFill>
              </a:rPr>
              <a:t>Ambulocetus is a 'walking whale' fossil that shows whales once lived on land. This supports evolution by showing that today's ocean-living whales came from four-legged land animals over millions of years.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005840"/>
          </a:xfrm>
          <a:prstGeom prst="rect">
            <a:avLst/>
          </a:prstGeom>
          <a:solidFill>
            <a:srgbClr val="146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943600"/>
            <a:ext cx="12188952" cy="914400"/>
          </a:xfrm>
          <a:prstGeom prst="rect">
            <a:avLst/>
          </a:prstGeom>
          <a:solidFill>
            <a:srgbClr val="146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1440"/>
            <a:ext cx="11274552" cy="822960"/>
          </a:xfrm>
          <a:prstGeom prst="rect">
            <a:avLst/>
          </a:prstGeom>
          <a:noFill/>
        </p:spPr>
        <p:txBody>
          <a:bodyPr wrap="square">
            <a:spAutoFit/>
          </a:bodyPr>
          <a:lstStyle/>
          <a:p>
            <a:pPr algn="ctr"/>
            <a:r>
              <a:rPr b="1" i="0" sz="3600">
                <a:solidFill>
                  <a:srgbClr val="FFD700"/>
                </a:solidFill>
              </a:rPr>
              <a:t>Biogeography</a:t>
            </a:r>
          </a:p>
        </p:txBody>
      </p:sp>
      <p:sp>
        <p:nvSpPr>
          <p:cNvPr id="6" name="TextBox 5"/>
          <p:cNvSpPr txBox="1"/>
          <p:nvPr/>
        </p:nvSpPr>
        <p:spPr>
          <a:xfrm>
            <a:off x="1371600" y="1828800"/>
            <a:ext cx="9445752" cy="3200400"/>
          </a:xfrm>
          <a:prstGeom prst="rect">
            <a:avLst/>
          </a:prstGeom>
          <a:noFill/>
        </p:spPr>
        <p:txBody>
          <a:bodyPr wrap="square">
            <a:spAutoFit/>
          </a:bodyPr>
          <a:lstStyle/>
          <a:p>
            <a:pPr algn="ctr"/>
            <a:r>
              <a:rPr b="0" i="0" sz="2200">
                <a:solidFill>
                  <a:srgbClr val="FFFFFF"/>
                </a:solidFill>
              </a:rPr>
              <a:t>Biogeography studies where animals and plants live around the world. The pattern of where species are found helps show how they evolved in different places.</a:t>
            </a:r>
          </a:p>
        </p:txBody>
      </p:sp>
      <p:sp>
        <p:nvSpPr>
          <p:cNvPr id="7" name="TextBox 6"/>
          <p:cNvSpPr txBox="1"/>
          <p:nvPr/>
        </p:nvSpPr>
        <p:spPr>
          <a:xfrm>
            <a:off x="457200" y="5989320"/>
            <a:ext cx="11274552" cy="548640"/>
          </a:xfrm>
          <a:prstGeom prst="rect">
            <a:avLst/>
          </a:prstGeom>
          <a:noFill/>
        </p:spPr>
        <p:txBody>
          <a:bodyPr wrap="square">
            <a:spAutoFit/>
          </a:bodyPr>
          <a:lstStyle/>
          <a:p>
            <a:pPr algn="ctr"/>
            <a:r>
              <a:rPr b="0" i="1" sz="1400">
                <a:solidFill>
                  <a:srgbClr val="FFD700"/>
                </a:solidFill>
              </a:rPr>
              <a:t>Examples:  Darwin's Finches  ·  Marsupials in Australia  ·  Cichlid Fish in African Lakes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60120"/>
          </a:xfrm>
          <a:prstGeom prst="rect">
            <a:avLst/>
          </a:prstGeom>
          <a:solidFill>
            <a:srgbClr val="146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143000"/>
            <a:ext cx="4114800" cy="3017520"/>
          </a:xfrm>
          <a:prstGeom prst="rect">
            <a:avLst/>
          </a:prstGeom>
          <a:solidFill>
            <a:srgbClr val="2E4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617720" y="1051560"/>
            <a:ext cx="45720" cy="5486400"/>
          </a:xfrm>
          <a:prstGeom prst="rect">
            <a:avLst/>
          </a:prstGeom>
          <a:solidFill>
            <a:srgbClr val="146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73152"/>
            <a:ext cx="11640312" cy="804672"/>
          </a:xfrm>
          <a:prstGeom prst="rect">
            <a:avLst/>
          </a:prstGeom>
          <a:noFill/>
        </p:spPr>
        <p:txBody>
          <a:bodyPr wrap="square">
            <a:spAutoFit/>
          </a:bodyPr>
          <a:lstStyle/>
          <a:p>
            <a:pPr algn="l"/>
            <a:r>
              <a:rPr b="1" i="0" sz="2600">
                <a:solidFill>
                  <a:srgbClr val="FFD700"/>
                </a:solidFill>
              </a:rPr>
              <a:t>Biogeography – Darwin's Finches</a:t>
            </a:r>
          </a:p>
        </p:txBody>
      </p:sp>
      <p:sp>
        <p:nvSpPr>
          <p:cNvPr id="7" name="TextBox 6"/>
          <p:cNvSpPr txBox="1"/>
          <p:nvPr/>
        </p:nvSpPr>
        <p:spPr>
          <a:xfrm>
            <a:off x="320040" y="2331720"/>
            <a:ext cx="4023360" cy="548640"/>
          </a:xfrm>
          <a:prstGeom prst="rect">
            <a:avLst/>
          </a:prstGeom>
          <a:noFill/>
        </p:spPr>
        <p:txBody>
          <a:bodyPr wrap="square">
            <a:spAutoFit/>
          </a:bodyPr>
          <a:lstStyle/>
          <a:p>
            <a:pPr algn="ctr"/>
            <a:r>
              <a:rPr b="0" i="1" sz="1300">
                <a:solidFill>
                  <a:srgbClr val="CCE5FF"/>
                </a:solidFill>
              </a:rPr>
              <a:t>[ Image: Darwin's Finches ]</a:t>
            </a:r>
          </a:p>
        </p:txBody>
      </p:sp>
      <p:sp>
        <p:nvSpPr>
          <p:cNvPr id="8" name="TextBox 7"/>
          <p:cNvSpPr txBox="1"/>
          <p:nvPr/>
        </p:nvSpPr>
        <p:spPr>
          <a:xfrm>
            <a:off x="274320" y="4251960"/>
            <a:ext cx="4114800" cy="548640"/>
          </a:xfrm>
          <a:prstGeom prst="rect">
            <a:avLst/>
          </a:prstGeom>
          <a:noFill/>
        </p:spPr>
        <p:txBody>
          <a:bodyPr wrap="square">
            <a:spAutoFit/>
          </a:bodyPr>
          <a:lstStyle/>
          <a:p>
            <a:pPr algn="l"/>
            <a:r>
              <a:rPr b="0" i="1" sz="1000">
                <a:solidFill>
                  <a:srgbClr val="CCE5FF"/>
                </a:solidFill>
              </a:rPr>
              <a:t>Source: Khan Academy – Darwin's Finches (khanacademy.org)</a:t>
            </a:r>
          </a:p>
        </p:txBody>
      </p:sp>
      <p:sp>
        <p:nvSpPr>
          <p:cNvPr id="9" name="TextBox 8"/>
          <p:cNvSpPr txBox="1"/>
          <p:nvPr/>
        </p:nvSpPr>
        <p:spPr>
          <a:xfrm>
            <a:off x="4846320" y="1097280"/>
            <a:ext cx="7040880" cy="365760"/>
          </a:xfrm>
          <a:prstGeom prst="rect">
            <a:avLst/>
          </a:prstGeom>
          <a:noFill/>
        </p:spPr>
        <p:txBody>
          <a:bodyPr wrap="square">
            <a:spAutoFit/>
          </a:bodyPr>
          <a:lstStyle/>
          <a:p>
            <a:pPr algn="l"/>
            <a:r>
              <a:rPr b="1" i="0" sz="1500">
                <a:solidFill>
                  <a:srgbClr val="FFD700"/>
                </a:solidFill>
              </a:rPr>
              <a:t>Description</a:t>
            </a:r>
          </a:p>
        </p:txBody>
      </p:sp>
      <p:sp>
        <p:nvSpPr>
          <p:cNvPr id="10" name="TextBox 9"/>
          <p:cNvSpPr txBox="1"/>
          <p:nvPr/>
        </p:nvSpPr>
        <p:spPr>
          <a:xfrm>
            <a:off x="4846320" y="1463040"/>
            <a:ext cx="7040880" cy="1371600"/>
          </a:xfrm>
          <a:prstGeom prst="rect">
            <a:avLst/>
          </a:prstGeom>
          <a:noFill/>
        </p:spPr>
        <p:txBody>
          <a:bodyPr wrap="square">
            <a:spAutoFit/>
          </a:bodyPr>
          <a:lstStyle/>
          <a:p>
            <a:pPr algn="l">
              <a:spcBef>
                <a:spcPts val="200"/>
              </a:spcBef>
            </a:pPr>
            <a:r>
              <a:rPr sz="1300" b="0">
                <a:solidFill>
                  <a:srgbClr val="FFFFFF"/>
                </a:solidFill>
              </a:rPr>
              <a:t>• Found on the Galápagos Islands in the Pacific Ocean</a:t>
            </a:r>
          </a:p>
          <a:p>
            <a:pPr algn="l">
              <a:spcBef>
                <a:spcPts val="200"/>
              </a:spcBef>
            </a:pPr>
            <a:r>
              <a:rPr sz="1300" b="0">
                <a:solidFill>
                  <a:srgbClr val="FFFFFF"/>
                </a:solidFill>
              </a:rPr>
              <a:t>• 14 different species of finch, each with a different beak shape</a:t>
            </a:r>
          </a:p>
          <a:p>
            <a:pPr algn="l">
              <a:spcBef>
                <a:spcPts val="200"/>
              </a:spcBef>
            </a:pPr>
            <a:r>
              <a:rPr sz="1300" b="0">
                <a:solidFill>
                  <a:srgbClr val="FFFFFF"/>
                </a:solidFill>
              </a:rPr>
              <a:t>• Each beak shape is matched to the food on that island (seeds, insects, cactus)</a:t>
            </a:r>
          </a:p>
        </p:txBody>
      </p:sp>
      <p:sp>
        <p:nvSpPr>
          <p:cNvPr id="11" name="TextBox 10"/>
          <p:cNvSpPr txBox="1"/>
          <p:nvPr/>
        </p:nvSpPr>
        <p:spPr>
          <a:xfrm>
            <a:off x="4846320" y="2971800"/>
            <a:ext cx="7040880" cy="365760"/>
          </a:xfrm>
          <a:prstGeom prst="rect">
            <a:avLst/>
          </a:prstGeom>
          <a:noFill/>
        </p:spPr>
        <p:txBody>
          <a:bodyPr wrap="square">
            <a:spAutoFit/>
          </a:bodyPr>
          <a:lstStyle/>
          <a:p>
            <a:pPr algn="l"/>
            <a:r>
              <a:rPr b="1" i="0" sz="1500">
                <a:solidFill>
                  <a:srgbClr val="FFD700"/>
                </a:solidFill>
              </a:rPr>
              <a:t>How does this support evolution?</a:t>
            </a:r>
          </a:p>
        </p:txBody>
      </p:sp>
      <p:sp>
        <p:nvSpPr>
          <p:cNvPr id="12" name="TextBox 11"/>
          <p:cNvSpPr txBox="1"/>
          <p:nvPr/>
        </p:nvSpPr>
        <p:spPr>
          <a:xfrm>
            <a:off x="4846320" y="3337560"/>
            <a:ext cx="7040880" cy="2011680"/>
          </a:xfrm>
          <a:prstGeom prst="rect">
            <a:avLst/>
          </a:prstGeom>
          <a:noFill/>
        </p:spPr>
        <p:txBody>
          <a:bodyPr wrap="square">
            <a:spAutoFit/>
          </a:bodyPr>
          <a:lstStyle/>
          <a:p>
            <a:pPr algn="l"/>
            <a:r>
              <a:rPr b="0" i="0" sz="1300">
                <a:solidFill>
                  <a:srgbClr val="CCE5FF"/>
                </a:solidFill>
              </a:rPr>
              <a:t>All 14 finch species came from a single finch ancestor that arrived on the islands long ago. Over time, different groups changed to fit their local food source — this is a clear example of evolution through natural selection.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60120"/>
          </a:xfrm>
          <a:prstGeom prst="rect">
            <a:avLst/>
          </a:prstGeom>
          <a:solidFill>
            <a:srgbClr val="146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143000"/>
            <a:ext cx="4114800" cy="3017520"/>
          </a:xfrm>
          <a:prstGeom prst="rect">
            <a:avLst/>
          </a:prstGeom>
          <a:solidFill>
            <a:srgbClr val="2E4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617720" y="1051560"/>
            <a:ext cx="45720" cy="5486400"/>
          </a:xfrm>
          <a:prstGeom prst="rect">
            <a:avLst/>
          </a:prstGeom>
          <a:solidFill>
            <a:srgbClr val="146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73152"/>
            <a:ext cx="11640312" cy="804672"/>
          </a:xfrm>
          <a:prstGeom prst="rect">
            <a:avLst/>
          </a:prstGeom>
          <a:noFill/>
        </p:spPr>
        <p:txBody>
          <a:bodyPr wrap="square">
            <a:spAutoFit/>
          </a:bodyPr>
          <a:lstStyle/>
          <a:p>
            <a:pPr algn="l"/>
            <a:r>
              <a:rPr b="1" i="0" sz="2600">
                <a:solidFill>
                  <a:srgbClr val="FFD700"/>
                </a:solidFill>
              </a:rPr>
              <a:t>Biogeography – Marsupials in Australia</a:t>
            </a:r>
          </a:p>
        </p:txBody>
      </p:sp>
      <p:sp>
        <p:nvSpPr>
          <p:cNvPr id="7" name="TextBox 6"/>
          <p:cNvSpPr txBox="1"/>
          <p:nvPr/>
        </p:nvSpPr>
        <p:spPr>
          <a:xfrm>
            <a:off x="320040" y="2331720"/>
            <a:ext cx="4023360" cy="548640"/>
          </a:xfrm>
          <a:prstGeom prst="rect">
            <a:avLst/>
          </a:prstGeom>
          <a:noFill/>
        </p:spPr>
        <p:txBody>
          <a:bodyPr wrap="square">
            <a:spAutoFit/>
          </a:bodyPr>
          <a:lstStyle/>
          <a:p>
            <a:pPr algn="ctr"/>
            <a:r>
              <a:rPr b="0" i="1" sz="1300">
                <a:solidFill>
                  <a:srgbClr val="CCE5FF"/>
                </a:solidFill>
              </a:rPr>
              <a:t>[ Image: Marsupials in Australia ]</a:t>
            </a:r>
          </a:p>
        </p:txBody>
      </p:sp>
      <p:sp>
        <p:nvSpPr>
          <p:cNvPr id="8" name="TextBox 7"/>
          <p:cNvSpPr txBox="1"/>
          <p:nvPr/>
        </p:nvSpPr>
        <p:spPr>
          <a:xfrm>
            <a:off x="274320" y="4251960"/>
            <a:ext cx="4114800" cy="548640"/>
          </a:xfrm>
          <a:prstGeom prst="rect">
            <a:avLst/>
          </a:prstGeom>
          <a:noFill/>
        </p:spPr>
        <p:txBody>
          <a:bodyPr wrap="square">
            <a:spAutoFit/>
          </a:bodyPr>
          <a:lstStyle/>
          <a:p>
            <a:pPr algn="l"/>
            <a:r>
              <a:rPr b="0" i="1" sz="1000">
                <a:solidFill>
                  <a:srgbClr val="CCE5FF"/>
                </a:solidFill>
              </a:rPr>
              <a:t>Source: Britannica – Marsupial (britannica.com)</a:t>
            </a:r>
          </a:p>
        </p:txBody>
      </p:sp>
      <p:sp>
        <p:nvSpPr>
          <p:cNvPr id="9" name="TextBox 8"/>
          <p:cNvSpPr txBox="1"/>
          <p:nvPr/>
        </p:nvSpPr>
        <p:spPr>
          <a:xfrm>
            <a:off x="4846320" y="1097280"/>
            <a:ext cx="7040880" cy="365760"/>
          </a:xfrm>
          <a:prstGeom prst="rect">
            <a:avLst/>
          </a:prstGeom>
          <a:noFill/>
        </p:spPr>
        <p:txBody>
          <a:bodyPr wrap="square">
            <a:spAutoFit/>
          </a:bodyPr>
          <a:lstStyle/>
          <a:p>
            <a:pPr algn="l"/>
            <a:r>
              <a:rPr b="1" i="0" sz="1500">
                <a:solidFill>
                  <a:srgbClr val="FFD700"/>
                </a:solidFill>
              </a:rPr>
              <a:t>Description</a:t>
            </a:r>
          </a:p>
        </p:txBody>
      </p:sp>
      <p:sp>
        <p:nvSpPr>
          <p:cNvPr id="10" name="TextBox 9"/>
          <p:cNvSpPr txBox="1"/>
          <p:nvPr/>
        </p:nvSpPr>
        <p:spPr>
          <a:xfrm>
            <a:off x="4846320" y="1463040"/>
            <a:ext cx="7040880" cy="1371600"/>
          </a:xfrm>
          <a:prstGeom prst="rect">
            <a:avLst/>
          </a:prstGeom>
          <a:noFill/>
        </p:spPr>
        <p:txBody>
          <a:bodyPr wrap="square">
            <a:spAutoFit/>
          </a:bodyPr>
          <a:lstStyle/>
          <a:p>
            <a:pPr algn="l">
              <a:spcBef>
                <a:spcPts val="200"/>
              </a:spcBef>
            </a:pPr>
            <a:r>
              <a:rPr sz="1300" b="0">
                <a:solidFill>
                  <a:srgbClr val="FFFFFF"/>
                </a:solidFill>
              </a:rPr>
              <a:t>• Marsupials (like kangaroos and koalas) are mostly found in Australia</a:t>
            </a:r>
          </a:p>
          <a:p>
            <a:pPr algn="l">
              <a:spcBef>
                <a:spcPts val="200"/>
              </a:spcBef>
            </a:pPr>
            <a:r>
              <a:rPr sz="1300" b="0">
                <a:solidFill>
                  <a:srgbClr val="FFFFFF"/>
                </a:solidFill>
              </a:rPr>
              <a:t>• Australia separated from other continents about 45 million years ago</a:t>
            </a:r>
          </a:p>
          <a:p>
            <a:pPr algn="l">
              <a:spcBef>
                <a:spcPts val="200"/>
              </a:spcBef>
            </a:pPr>
            <a:r>
              <a:rPr sz="1300" b="0">
                <a:solidFill>
                  <a:srgbClr val="FFFFFF"/>
                </a:solidFill>
              </a:rPr>
              <a:t>• Marsupials evolved on their own, isolated from placental mammals elsewhere</a:t>
            </a:r>
          </a:p>
        </p:txBody>
      </p:sp>
      <p:sp>
        <p:nvSpPr>
          <p:cNvPr id="11" name="TextBox 10"/>
          <p:cNvSpPr txBox="1"/>
          <p:nvPr/>
        </p:nvSpPr>
        <p:spPr>
          <a:xfrm>
            <a:off x="4846320" y="2971800"/>
            <a:ext cx="7040880" cy="365760"/>
          </a:xfrm>
          <a:prstGeom prst="rect">
            <a:avLst/>
          </a:prstGeom>
          <a:noFill/>
        </p:spPr>
        <p:txBody>
          <a:bodyPr wrap="square">
            <a:spAutoFit/>
          </a:bodyPr>
          <a:lstStyle/>
          <a:p>
            <a:pPr algn="l"/>
            <a:r>
              <a:rPr b="1" i="0" sz="1500">
                <a:solidFill>
                  <a:srgbClr val="FFD700"/>
                </a:solidFill>
              </a:rPr>
              <a:t>How does this support evolution?</a:t>
            </a:r>
          </a:p>
        </p:txBody>
      </p:sp>
      <p:sp>
        <p:nvSpPr>
          <p:cNvPr id="12" name="TextBox 11"/>
          <p:cNvSpPr txBox="1"/>
          <p:nvPr/>
        </p:nvSpPr>
        <p:spPr>
          <a:xfrm>
            <a:off x="4846320" y="3337560"/>
            <a:ext cx="7040880" cy="2011680"/>
          </a:xfrm>
          <a:prstGeom prst="rect">
            <a:avLst/>
          </a:prstGeom>
          <a:noFill/>
        </p:spPr>
        <p:txBody>
          <a:bodyPr wrap="square">
            <a:spAutoFit/>
          </a:bodyPr>
          <a:lstStyle/>
          <a:p>
            <a:pPr algn="l"/>
            <a:r>
              <a:rPr b="0" i="0" sz="1300">
                <a:solidFill>
                  <a:srgbClr val="CCE5FF"/>
                </a:solidFill>
              </a:rPr>
              <a:t>Because Australia was cut off from the rest of the world, its animals evolved separately. The huge variety of marsupials found only there supports the idea that isolation leads to unique evolutionary paths.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60120"/>
          </a:xfrm>
          <a:prstGeom prst="rect">
            <a:avLst/>
          </a:prstGeom>
          <a:solidFill>
            <a:srgbClr val="146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143000"/>
            <a:ext cx="4114800" cy="3017520"/>
          </a:xfrm>
          <a:prstGeom prst="rect">
            <a:avLst/>
          </a:prstGeom>
          <a:solidFill>
            <a:srgbClr val="2E4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617720" y="1051560"/>
            <a:ext cx="45720" cy="5486400"/>
          </a:xfrm>
          <a:prstGeom prst="rect">
            <a:avLst/>
          </a:prstGeom>
          <a:solidFill>
            <a:srgbClr val="146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73152"/>
            <a:ext cx="11640312" cy="804672"/>
          </a:xfrm>
          <a:prstGeom prst="rect">
            <a:avLst/>
          </a:prstGeom>
          <a:noFill/>
        </p:spPr>
        <p:txBody>
          <a:bodyPr wrap="square">
            <a:spAutoFit/>
          </a:bodyPr>
          <a:lstStyle/>
          <a:p>
            <a:pPr algn="l"/>
            <a:r>
              <a:rPr b="1" i="0" sz="2600">
                <a:solidFill>
                  <a:srgbClr val="FFD700"/>
                </a:solidFill>
              </a:rPr>
              <a:t>Biogeography – Cichlid Fish in African Lakes</a:t>
            </a:r>
          </a:p>
        </p:txBody>
      </p:sp>
      <p:sp>
        <p:nvSpPr>
          <p:cNvPr id="7" name="TextBox 6"/>
          <p:cNvSpPr txBox="1"/>
          <p:nvPr/>
        </p:nvSpPr>
        <p:spPr>
          <a:xfrm>
            <a:off x="320040" y="2331720"/>
            <a:ext cx="4023360" cy="548640"/>
          </a:xfrm>
          <a:prstGeom prst="rect">
            <a:avLst/>
          </a:prstGeom>
          <a:noFill/>
        </p:spPr>
        <p:txBody>
          <a:bodyPr wrap="square">
            <a:spAutoFit/>
          </a:bodyPr>
          <a:lstStyle/>
          <a:p>
            <a:pPr algn="ctr"/>
            <a:r>
              <a:rPr b="0" i="1" sz="1300">
                <a:solidFill>
                  <a:srgbClr val="CCE5FF"/>
                </a:solidFill>
              </a:rPr>
              <a:t>[ Image: Cichlid Fish in African Lakes ]</a:t>
            </a:r>
          </a:p>
        </p:txBody>
      </p:sp>
      <p:sp>
        <p:nvSpPr>
          <p:cNvPr id="8" name="TextBox 7"/>
          <p:cNvSpPr txBox="1"/>
          <p:nvPr/>
        </p:nvSpPr>
        <p:spPr>
          <a:xfrm>
            <a:off x="274320" y="4251960"/>
            <a:ext cx="4114800" cy="548640"/>
          </a:xfrm>
          <a:prstGeom prst="rect">
            <a:avLst/>
          </a:prstGeom>
          <a:noFill/>
        </p:spPr>
        <p:txBody>
          <a:bodyPr wrap="square">
            <a:spAutoFit/>
          </a:bodyPr>
          <a:lstStyle/>
          <a:p>
            <a:pPr algn="l"/>
            <a:r>
              <a:rPr b="0" i="1" sz="1000">
                <a:solidFill>
                  <a:srgbClr val="CCE5FF"/>
                </a:solidFill>
              </a:rPr>
              <a:t>Source: National Geographic – Cichlid Evolution (nationalgeographic.com)</a:t>
            </a:r>
          </a:p>
        </p:txBody>
      </p:sp>
      <p:sp>
        <p:nvSpPr>
          <p:cNvPr id="9" name="TextBox 8"/>
          <p:cNvSpPr txBox="1"/>
          <p:nvPr/>
        </p:nvSpPr>
        <p:spPr>
          <a:xfrm>
            <a:off x="4846320" y="1097280"/>
            <a:ext cx="7040880" cy="365760"/>
          </a:xfrm>
          <a:prstGeom prst="rect">
            <a:avLst/>
          </a:prstGeom>
          <a:noFill/>
        </p:spPr>
        <p:txBody>
          <a:bodyPr wrap="square">
            <a:spAutoFit/>
          </a:bodyPr>
          <a:lstStyle/>
          <a:p>
            <a:pPr algn="l"/>
            <a:r>
              <a:rPr b="1" i="0" sz="1500">
                <a:solidFill>
                  <a:srgbClr val="FFD700"/>
                </a:solidFill>
              </a:rPr>
              <a:t>Description</a:t>
            </a:r>
          </a:p>
        </p:txBody>
      </p:sp>
      <p:sp>
        <p:nvSpPr>
          <p:cNvPr id="10" name="TextBox 9"/>
          <p:cNvSpPr txBox="1"/>
          <p:nvPr/>
        </p:nvSpPr>
        <p:spPr>
          <a:xfrm>
            <a:off x="4846320" y="1463040"/>
            <a:ext cx="7040880" cy="1371600"/>
          </a:xfrm>
          <a:prstGeom prst="rect">
            <a:avLst/>
          </a:prstGeom>
          <a:noFill/>
        </p:spPr>
        <p:txBody>
          <a:bodyPr wrap="square">
            <a:spAutoFit/>
          </a:bodyPr>
          <a:lstStyle/>
          <a:p>
            <a:pPr algn="l">
              <a:spcBef>
                <a:spcPts val="200"/>
              </a:spcBef>
            </a:pPr>
            <a:r>
              <a:rPr sz="1300" b="0">
                <a:solidFill>
                  <a:srgbClr val="FFFFFF"/>
                </a:solidFill>
              </a:rPr>
              <a:t>• Over 500 species of cichlid fish live in Africa's Great Lakes</a:t>
            </a:r>
          </a:p>
          <a:p>
            <a:pPr algn="l">
              <a:spcBef>
                <a:spcPts val="200"/>
              </a:spcBef>
            </a:pPr>
            <a:r>
              <a:rPr sz="1300" b="0">
                <a:solidFill>
                  <a:srgbClr val="FFFFFF"/>
                </a:solidFill>
              </a:rPr>
              <a:t>• Each species evolved to eat a different type of food in the lake</a:t>
            </a:r>
          </a:p>
          <a:p>
            <a:pPr algn="l">
              <a:spcBef>
                <a:spcPts val="200"/>
              </a:spcBef>
            </a:pPr>
            <a:r>
              <a:rPr sz="1300" b="0">
                <a:solidFill>
                  <a:srgbClr val="FFFFFF"/>
                </a:solidFill>
              </a:rPr>
              <a:t>• All species came from just a few common ancestors</a:t>
            </a:r>
          </a:p>
        </p:txBody>
      </p:sp>
      <p:sp>
        <p:nvSpPr>
          <p:cNvPr id="11" name="TextBox 10"/>
          <p:cNvSpPr txBox="1"/>
          <p:nvPr/>
        </p:nvSpPr>
        <p:spPr>
          <a:xfrm>
            <a:off x="4846320" y="2971800"/>
            <a:ext cx="7040880" cy="365760"/>
          </a:xfrm>
          <a:prstGeom prst="rect">
            <a:avLst/>
          </a:prstGeom>
          <a:noFill/>
        </p:spPr>
        <p:txBody>
          <a:bodyPr wrap="square">
            <a:spAutoFit/>
          </a:bodyPr>
          <a:lstStyle/>
          <a:p>
            <a:pPr algn="l"/>
            <a:r>
              <a:rPr b="1" i="0" sz="1500">
                <a:solidFill>
                  <a:srgbClr val="FFD700"/>
                </a:solidFill>
              </a:rPr>
              <a:t>How does this support evolution?</a:t>
            </a:r>
          </a:p>
        </p:txBody>
      </p:sp>
      <p:sp>
        <p:nvSpPr>
          <p:cNvPr id="12" name="TextBox 11"/>
          <p:cNvSpPr txBox="1"/>
          <p:nvPr/>
        </p:nvSpPr>
        <p:spPr>
          <a:xfrm>
            <a:off x="4846320" y="3337560"/>
            <a:ext cx="7040880" cy="2011680"/>
          </a:xfrm>
          <a:prstGeom prst="rect">
            <a:avLst/>
          </a:prstGeom>
          <a:noFill/>
        </p:spPr>
        <p:txBody>
          <a:bodyPr wrap="square">
            <a:spAutoFit/>
          </a:bodyPr>
          <a:lstStyle/>
          <a:p>
            <a:pPr algn="l"/>
            <a:r>
              <a:rPr b="0" i="0" sz="1300">
                <a:solidFill>
                  <a:srgbClr val="CCE5FF"/>
                </a:solidFill>
              </a:rPr>
              <a:t>Cichlid fish are a great example of rapid evolution in one location. Because they were isolated in separate lakes, small groups evolved into hundreds of different species — each one shaped by its environment.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005840"/>
          </a:xfrm>
          <a:prstGeom prst="rect">
            <a:avLst/>
          </a:prstGeom>
          <a:solidFill>
            <a:srgbClr val="7B2D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943600"/>
            <a:ext cx="12188952" cy="914400"/>
          </a:xfrm>
          <a:prstGeom prst="rect">
            <a:avLst/>
          </a:prstGeom>
          <a:solidFill>
            <a:srgbClr val="7B2D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1440"/>
            <a:ext cx="11274552" cy="822960"/>
          </a:xfrm>
          <a:prstGeom prst="rect">
            <a:avLst/>
          </a:prstGeom>
          <a:noFill/>
        </p:spPr>
        <p:txBody>
          <a:bodyPr wrap="square">
            <a:spAutoFit/>
          </a:bodyPr>
          <a:lstStyle/>
          <a:p>
            <a:pPr algn="ctr"/>
            <a:r>
              <a:rPr b="1" i="0" sz="3600">
                <a:solidFill>
                  <a:srgbClr val="FFD700"/>
                </a:solidFill>
              </a:rPr>
              <a:t>Embryology</a:t>
            </a:r>
          </a:p>
        </p:txBody>
      </p:sp>
      <p:sp>
        <p:nvSpPr>
          <p:cNvPr id="6" name="TextBox 5"/>
          <p:cNvSpPr txBox="1"/>
          <p:nvPr/>
        </p:nvSpPr>
        <p:spPr>
          <a:xfrm>
            <a:off x="1371600" y="1828800"/>
            <a:ext cx="9445752" cy="3200400"/>
          </a:xfrm>
          <a:prstGeom prst="rect">
            <a:avLst/>
          </a:prstGeom>
          <a:noFill/>
        </p:spPr>
        <p:txBody>
          <a:bodyPr wrap="square">
            <a:spAutoFit/>
          </a:bodyPr>
          <a:lstStyle/>
          <a:p>
            <a:pPr algn="ctr"/>
            <a:r>
              <a:rPr b="0" i="0" sz="2200">
                <a:solidFill>
                  <a:srgbClr val="FFFFFF"/>
                </a:solidFill>
              </a:rPr>
              <a:t>Embryology is the study of how embryos (early-stage babies) develop. Related animals often look very similar as embryos, showing their shared past.</a:t>
            </a:r>
          </a:p>
        </p:txBody>
      </p:sp>
      <p:sp>
        <p:nvSpPr>
          <p:cNvPr id="7" name="TextBox 6"/>
          <p:cNvSpPr txBox="1"/>
          <p:nvPr/>
        </p:nvSpPr>
        <p:spPr>
          <a:xfrm>
            <a:off x="457200" y="5989320"/>
            <a:ext cx="11274552" cy="548640"/>
          </a:xfrm>
          <a:prstGeom prst="rect">
            <a:avLst/>
          </a:prstGeom>
          <a:noFill/>
        </p:spPr>
        <p:txBody>
          <a:bodyPr wrap="square">
            <a:spAutoFit/>
          </a:bodyPr>
          <a:lstStyle/>
          <a:p>
            <a:pPr algn="ctr"/>
            <a:r>
              <a:rPr b="0" i="1" sz="1400">
                <a:solidFill>
                  <a:srgbClr val="FFD700"/>
                </a:solidFill>
              </a:rPr>
              <a:t>Examples:  Pharyngeal Pouches  ·  Tail in Human Embryos  ·  Limb Bud Development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60120"/>
          </a:xfrm>
          <a:prstGeom prst="rect">
            <a:avLst/>
          </a:prstGeom>
          <a:solidFill>
            <a:srgbClr val="7B2D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143000"/>
            <a:ext cx="4114800" cy="3017520"/>
          </a:xfrm>
          <a:prstGeom prst="rect">
            <a:avLst/>
          </a:prstGeom>
          <a:solidFill>
            <a:srgbClr val="2E4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617720" y="1051560"/>
            <a:ext cx="45720" cy="5486400"/>
          </a:xfrm>
          <a:prstGeom prst="rect">
            <a:avLst/>
          </a:prstGeom>
          <a:solidFill>
            <a:srgbClr val="7B2D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73152"/>
            <a:ext cx="11640312" cy="804672"/>
          </a:xfrm>
          <a:prstGeom prst="rect">
            <a:avLst/>
          </a:prstGeom>
          <a:noFill/>
        </p:spPr>
        <p:txBody>
          <a:bodyPr wrap="square">
            <a:spAutoFit/>
          </a:bodyPr>
          <a:lstStyle/>
          <a:p>
            <a:pPr algn="l"/>
            <a:r>
              <a:rPr b="1" i="0" sz="2600">
                <a:solidFill>
                  <a:srgbClr val="FFD700"/>
                </a:solidFill>
              </a:rPr>
              <a:t>Embryology – Pharyngeal Pouches</a:t>
            </a:r>
          </a:p>
        </p:txBody>
      </p:sp>
      <p:sp>
        <p:nvSpPr>
          <p:cNvPr id="7" name="TextBox 6"/>
          <p:cNvSpPr txBox="1"/>
          <p:nvPr/>
        </p:nvSpPr>
        <p:spPr>
          <a:xfrm>
            <a:off x="320040" y="2331720"/>
            <a:ext cx="4023360" cy="548640"/>
          </a:xfrm>
          <a:prstGeom prst="rect">
            <a:avLst/>
          </a:prstGeom>
          <a:noFill/>
        </p:spPr>
        <p:txBody>
          <a:bodyPr wrap="square">
            <a:spAutoFit/>
          </a:bodyPr>
          <a:lstStyle/>
          <a:p>
            <a:pPr algn="ctr"/>
            <a:r>
              <a:rPr b="0" i="1" sz="1300">
                <a:solidFill>
                  <a:srgbClr val="CCE5FF"/>
                </a:solidFill>
              </a:rPr>
              <a:t>[ Image: Pharyngeal Pouches ]</a:t>
            </a:r>
          </a:p>
        </p:txBody>
      </p:sp>
      <p:sp>
        <p:nvSpPr>
          <p:cNvPr id="8" name="TextBox 7"/>
          <p:cNvSpPr txBox="1"/>
          <p:nvPr/>
        </p:nvSpPr>
        <p:spPr>
          <a:xfrm>
            <a:off x="274320" y="4251960"/>
            <a:ext cx="4114800" cy="548640"/>
          </a:xfrm>
          <a:prstGeom prst="rect">
            <a:avLst/>
          </a:prstGeom>
          <a:noFill/>
        </p:spPr>
        <p:txBody>
          <a:bodyPr wrap="square">
            <a:spAutoFit/>
          </a:bodyPr>
          <a:lstStyle/>
          <a:p>
            <a:pPr algn="l"/>
            <a:r>
              <a:rPr b="0" i="1" sz="1000">
                <a:solidFill>
                  <a:srgbClr val="CCE5FF"/>
                </a:solidFill>
              </a:rPr>
              <a:t>Source: Khan Academy – Embryology and Evolution (khanacademy.org)</a:t>
            </a:r>
          </a:p>
        </p:txBody>
      </p:sp>
      <p:sp>
        <p:nvSpPr>
          <p:cNvPr id="9" name="TextBox 8"/>
          <p:cNvSpPr txBox="1"/>
          <p:nvPr/>
        </p:nvSpPr>
        <p:spPr>
          <a:xfrm>
            <a:off x="4846320" y="1097280"/>
            <a:ext cx="7040880" cy="365760"/>
          </a:xfrm>
          <a:prstGeom prst="rect">
            <a:avLst/>
          </a:prstGeom>
          <a:noFill/>
        </p:spPr>
        <p:txBody>
          <a:bodyPr wrap="square">
            <a:spAutoFit/>
          </a:bodyPr>
          <a:lstStyle/>
          <a:p>
            <a:pPr algn="l"/>
            <a:r>
              <a:rPr b="1" i="0" sz="1500">
                <a:solidFill>
                  <a:srgbClr val="FFD700"/>
                </a:solidFill>
              </a:rPr>
              <a:t>Description</a:t>
            </a:r>
          </a:p>
        </p:txBody>
      </p:sp>
      <p:sp>
        <p:nvSpPr>
          <p:cNvPr id="10" name="TextBox 9"/>
          <p:cNvSpPr txBox="1"/>
          <p:nvPr/>
        </p:nvSpPr>
        <p:spPr>
          <a:xfrm>
            <a:off x="4846320" y="1463040"/>
            <a:ext cx="7040880" cy="1371600"/>
          </a:xfrm>
          <a:prstGeom prst="rect">
            <a:avLst/>
          </a:prstGeom>
          <a:noFill/>
        </p:spPr>
        <p:txBody>
          <a:bodyPr wrap="square">
            <a:spAutoFit/>
          </a:bodyPr>
          <a:lstStyle/>
          <a:p>
            <a:pPr algn="l">
              <a:spcBef>
                <a:spcPts val="200"/>
              </a:spcBef>
            </a:pPr>
            <a:r>
              <a:rPr sz="1300" b="0">
                <a:solidFill>
                  <a:srgbClr val="FFFFFF"/>
                </a:solidFill>
              </a:rPr>
              <a:t>• Fish, frogs, chickens, pigs, and humans all have pharyngeal pouches as embryos</a:t>
            </a:r>
          </a:p>
          <a:p>
            <a:pPr algn="l">
              <a:spcBef>
                <a:spcPts val="200"/>
              </a:spcBef>
            </a:pPr>
            <a:r>
              <a:rPr sz="1300" b="0">
                <a:solidFill>
                  <a:srgbClr val="FFFFFF"/>
                </a:solidFill>
              </a:rPr>
              <a:t>• In fish, these pouches become gills</a:t>
            </a:r>
          </a:p>
          <a:p>
            <a:pPr algn="l">
              <a:spcBef>
                <a:spcPts val="200"/>
              </a:spcBef>
            </a:pPr>
            <a:r>
              <a:rPr sz="1300" b="0">
                <a:solidFill>
                  <a:srgbClr val="FFFFFF"/>
                </a:solidFill>
              </a:rPr>
              <a:t>• In humans, they become parts of the ear and throat</a:t>
            </a:r>
          </a:p>
        </p:txBody>
      </p:sp>
      <p:sp>
        <p:nvSpPr>
          <p:cNvPr id="11" name="TextBox 10"/>
          <p:cNvSpPr txBox="1"/>
          <p:nvPr/>
        </p:nvSpPr>
        <p:spPr>
          <a:xfrm>
            <a:off x="4846320" y="2971800"/>
            <a:ext cx="7040880" cy="365760"/>
          </a:xfrm>
          <a:prstGeom prst="rect">
            <a:avLst/>
          </a:prstGeom>
          <a:noFill/>
        </p:spPr>
        <p:txBody>
          <a:bodyPr wrap="square">
            <a:spAutoFit/>
          </a:bodyPr>
          <a:lstStyle/>
          <a:p>
            <a:pPr algn="l"/>
            <a:r>
              <a:rPr b="1" i="0" sz="1500">
                <a:solidFill>
                  <a:srgbClr val="FFD700"/>
                </a:solidFill>
              </a:rPr>
              <a:t>How does this support evolution?</a:t>
            </a:r>
          </a:p>
        </p:txBody>
      </p:sp>
      <p:sp>
        <p:nvSpPr>
          <p:cNvPr id="12" name="TextBox 11"/>
          <p:cNvSpPr txBox="1"/>
          <p:nvPr/>
        </p:nvSpPr>
        <p:spPr>
          <a:xfrm>
            <a:off x="4846320" y="3337560"/>
            <a:ext cx="7040880" cy="2011680"/>
          </a:xfrm>
          <a:prstGeom prst="rect">
            <a:avLst/>
          </a:prstGeom>
          <a:noFill/>
        </p:spPr>
        <p:txBody>
          <a:bodyPr wrap="square">
            <a:spAutoFit/>
          </a:bodyPr>
          <a:lstStyle/>
          <a:p>
            <a:pPr algn="l"/>
            <a:r>
              <a:rPr b="0" i="0" sz="1300">
                <a:solidFill>
                  <a:srgbClr val="CCE5FF"/>
                </a:solidFill>
              </a:rPr>
              <a:t>The fact that very different animals all start with the same structures in their embryos shows that they share a common ancestor. Over time, evolution shaped those same starting structures into different body parts.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60120"/>
          </a:xfrm>
          <a:prstGeom prst="rect">
            <a:avLst/>
          </a:prstGeom>
          <a:solidFill>
            <a:srgbClr val="7B2D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143000"/>
            <a:ext cx="4114800" cy="3017520"/>
          </a:xfrm>
          <a:prstGeom prst="rect">
            <a:avLst/>
          </a:prstGeom>
          <a:solidFill>
            <a:srgbClr val="2E4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617720" y="1051560"/>
            <a:ext cx="45720" cy="5486400"/>
          </a:xfrm>
          <a:prstGeom prst="rect">
            <a:avLst/>
          </a:prstGeom>
          <a:solidFill>
            <a:srgbClr val="7B2D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73152"/>
            <a:ext cx="11640312" cy="804672"/>
          </a:xfrm>
          <a:prstGeom prst="rect">
            <a:avLst/>
          </a:prstGeom>
          <a:noFill/>
        </p:spPr>
        <p:txBody>
          <a:bodyPr wrap="square">
            <a:spAutoFit/>
          </a:bodyPr>
          <a:lstStyle/>
          <a:p>
            <a:pPr algn="l"/>
            <a:r>
              <a:rPr b="1" i="0" sz="2600">
                <a:solidFill>
                  <a:srgbClr val="FFD700"/>
                </a:solidFill>
              </a:rPr>
              <a:t>Embryology – Tail in Human Embryos</a:t>
            </a:r>
          </a:p>
        </p:txBody>
      </p:sp>
      <p:sp>
        <p:nvSpPr>
          <p:cNvPr id="7" name="TextBox 6"/>
          <p:cNvSpPr txBox="1"/>
          <p:nvPr/>
        </p:nvSpPr>
        <p:spPr>
          <a:xfrm>
            <a:off x="320040" y="2331720"/>
            <a:ext cx="4023360" cy="548640"/>
          </a:xfrm>
          <a:prstGeom prst="rect">
            <a:avLst/>
          </a:prstGeom>
          <a:noFill/>
        </p:spPr>
        <p:txBody>
          <a:bodyPr wrap="square">
            <a:spAutoFit/>
          </a:bodyPr>
          <a:lstStyle/>
          <a:p>
            <a:pPr algn="ctr"/>
            <a:r>
              <a:rPr b="0" i="1" sz="1300">
                <a:solidFill>
                  <a:srgbClr val="CCE5FF"/>
                </a:solidFill>
              </a:rPr>
              <a:t>[ Image: Tail in Human Embryos ]</a:t>
            </a:r>
          </a:p>
        </p:txBody>
      </p:sp>
      <p:sp>
        <p:nvSpPr>
          <p:cNvPr id="8" name="TextBox 7"/>
          <p:cNvSpPr txBox="1"/>
          <p:nvPr/>
        </p:nvSpPr>
        <p:spPr>
          <a:xfrm>
            <a:off x="274320" y="4251960"/>
            <a:ext cx="4114800" cy="548640"/>
          </a:xfrm>
          <a:prstGeom prst="rect">
            <a:avLst/>
          </a:prstGeom>
          <a:noFill/>
        </p:spPr>
        <p:txBody>
          <a:bodyPr wrap="square">
            <a:spAutoFit/>
          </a:bodyPr>
          <a:lstStyle/>
          <a:p>
            <a:pPr algn="l"/>
            <a:r>
              <a:rPr b="0" i="1" sz="1000">
                <a:solidFill>
                  <a:srgbClr val="CCE5FF"/>
                </a:solidFill>
              </a:rPr>
              <a:t>Source: Britannica – Human Embryo Development (britannica.com)</a:t>
            </a:r>
          </a:p>
        </p:txBody>
      </p:sp>
      <p:sp>
        <p:nvSpPr>
          <p:cNvPr id="9" name="TextBox 8"/>
          <p:cNvSpPr txBox="1"/>
          <p:nvPr/>
        </p:nvSpPr>
        <p:spPr>
          <a:xfrm>
            <a:off x="4846320" y="1097280"/>
            <a:ext cx="7040880" cy="365760"/>
          </a:xfrm>
          <a:prstGeom prst="rect">
            <a:avLst/>
          </a:prstGeom>
          <a:noFill/>
        </p:spPr>
        <p:txBody>
          <a:bodyPr wrap="square">
            <a:spAutoFit/>
          </a:bodyPr>
          <a:lstStyle/>
          <a:p>
            <a:pPr algn="l"/>
            <a:r>
              <a:rPr b="1" i="0" sz="1500">
                <a:solidFill>
                  <a:srgbClr val="FFD700"/>
                </a:solidFill>
              </a:rPr>
              <a:t>Description</a:t>
            </a:r>
          </a:p>
        </p:txBody>
      </p:sp>
      <p:sp>
        <p:nvSpPr>
          <p:cNvPr id="10" name="TextBox 9"/>
          <p:cNvSpPr txBox="1"/>
          <p:nvPr/>
        </p:nvSpPr>
        <p:spPr>
          <a:xfrm>
            <a:off x="4846320" y="1463040"/>
            <a:ext cx="7040880" cy="1371600"/>
          </a:xfrm>
          <a:prstGeom prst="rect">
            <a:avLst/>
          </a:prstGeom>
          <a:noFill/>
        </p:spPr>
        <p:txBody>
          <a:bodyPr wrap="square">
            <a:spAutoFit/>
          </a:bodyPr>
          <a:lstStyle/>
          <a:p>
            <a:pPr algn="l">
              <a:spcBef>
                <a:spcPts val="200"/>
              </a:spcBef>
            </a:pPr>
            <a:r>
              <a:rPr sz="1300" b="0">
                <a:solidFill>
                  <a:srgbClr val="FFFFFF"/>
                </a:solidFill>
              </a:rPr>
              <a:t>• Human embryos grow a small tail between weeks 4 and 8 of development</a:t>
            </a:r>
          </a:p>
          <a:p>
            <a:pPr algn="l">
              <a:spcBef>
                <a:spcPts val="200"/>
              </a:spcBef>
            </a:pPr>
            <a:r>
              <a:rPr sz="1300" b="0">
                <a:solidFill>
                  <a:srgbClr val="FFFFFF"/>
                </a:solidFill>
              </a:rPr>
              <a:t>• The tail is then absorbed back into the body before birth</a:t>
            </a:r>
          </a:p>
          <a:p>
            <a:pPr algn="l">
              <a:spcBef>
                <a:spcPts val="200"/>
              </a:spcBef>
            </a:pPr>
            <a:r>
              <a:rPr sz="1300" b="0">
                <a:solidFill>
                  <a:srgbClr val="FFFFFF"/>
                </a:solidFill>
              </a:rPr>
              <a:t>• This tail structure matches the tails seen in other vertebrate embryos</a:t>
            </a:r>
          </a:p>
        </p:txBody>
      </p:sp>
      <p:sp>
        <p:nvSpPr>
          <p:cNvPr id="11" name="TextBox 10"/>
          <p:cNvSpPr txBox="1"/>
          <p:nvPr/>
        </p:nvSpPr>
        <p:spPr>
          <a:xfrm>
            <a:off x="4846320" y="2971800"/>
            <a:ext cx="7040880" cy="365760"/>
          </a:xfrm>
          <a:prstGeom prst="rect">
            <a:avLst/>
          </a:prstGeom>
          <a:noFill/>
        </p:spPr>
        <p:txBody>
          <a:bodyPr wrap="square">
            <a:spAutoFit/>
          </a:bodyPr>
          <a:lstStyle/>
          <a:p>
            <a:pPr algn="l"/>
            <a:r>
              <a:rPr b="1" i="0" sz="1500">
                <a:solidFill>
                  <a:srgbClr val="FFD700"/>
                </a:solidFill>
              </a:rPr>
              <a:t>How does this support evolution?</a:t>
            </a:r>
          </a:p>
        </p:txBody>
      </p:sp>
      <p:sp>
        <p:nvSpPr>
          <p:cNvPr id="12" name="TextBox 11"/>
          <p:cNvSpPr txBox="1"/>
          <p:nvPr/>
        </p:nvSpPr>
        <p:spPr>
          <a:xfrm>
            <a:off x="4846320" y="3337560"/>
            <a:ext cx="7040880" cy="2011680"/>
          </a:xfrm>
          <a:prstGeom prst="rect">
            <a:avLst/>
          </a:prstGeom>
          <a:noFill/>
        </p:spPr>
        <p:txBody>
          <a:bodyPr wrap="square">
            <a:spAutoFit/>
          </a:bodyPr>
          <a:lstStyle/>
          <a:p>
            <a:pPr algn="l"/>
            <a:r>
              <a:rPr b="0" i="0" sz="1300">
                <a:solidFill>
                  <a:srgbClr val="CCE5FF"/>
                </a:solidFill>
              </a:rPr>
              <a:t>The temporary tail in human embryos shows our connection to other animals that have tails. It is a sign left over from ancestors we shared with other mammals millions of years ago.</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60120"/>
          </a:xfrm>
          <a:prstGeom prst="rect">
            <a:avLst/>
          </a:prstGeom>
          <a:solidFill>
            <a:srgbClr val="7B2D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143000"/>
            <a:ext cx="4114800" cy="3017520"/>
          </a:xfrm>
          <a:prstGeom prst="rect">
            <a:avLst/>
          </a:prstGeom>
          <a:solidFill>
            <a:srgbClr val="2E4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617720" y="1051560"/>
            <a:ext cx="45720" cy="5486400"/>
          </a:xfrm>
          <a:prstGeom prst="rect">
            <a:avLst/>
          </a:prstGeom>
          <a:solidFill>
            <a:srgbClr val="7B2D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73152"/>
            <a:ext cx="11640312" cy="804672"/>
          </a:xfrm>
          <a:prstGeom prst="rect">
            <a:avLst/>
          </a:prstGeom>
          <a:noFill/>
        </p:spPr>
        <p:txBody>
          <a:bodyPr wrap="square">
            <a:spAutoFit/>
          </a:bodyPr>
          <a:lstStyle/>
          <a:p>
            <a:pPr algn="l"/>
            <a:r>
              <a:rPr b="1" i="0" sz="2600">
                <a:solidFill>
                  <a:srgbClr val="FFD700"/>
                </a:solidFill>
              </a:rPr>
              <a:t>Embryology – Limb Bud Development</a:t>
            </a:r>
          </a:p>
        </p:txBody>
      </p:sp>
      <p:sp>
        <p:nvSpPr>
          <p:cNvPr id="7" name="TextBox 6"/>
          <p:cNvSpPr txBox="1"/>
          <p:nvPr/>
        </p:nvSpPr>
        <p:spPr>
          <a:xfrm>
            <a:off x="320040" y="2331720"/>
            <a:ext cx="4023360" cy="548640"/>
          </a:xfrm>
          <a:prstGeom prst="rect">
            <a:avLst/>
          </a:prstGeom>
          <a:noFill/>
        </p:spPr>
        <p:txBody>
          <a:bodyPr wrap="square">
            <a:spAutoFit/>
          </a:bodyPr>
          <a:lstStyle/>
          <a:p>
            <a:pPr algn="ctr"/>
            <a:r>
              <a:rPr b="0" i="1" sz="1300">
                <a:solidFill>
                  <a:srgbClr val="CCE5FF"/>
                </a:solidFill>
              </a:rPr>
              <a:t>[ Image: Limb Bud Development ]</a:t>
            </a:r>
          </a:p>
        </p:txBody>
      </p:sp>
      <p:sp>
        <p:nvSpPr>
          <p:cNvPr id="8" name="TextBox 7"/>
          <p:cNvSpPr txBox="1"/>
          <p:nvPr/>
        </p:nvSpPr>
        <p:spPr>
          <a:xfrm>
            <a:off x="274320" y="4251960"/>
            <a:ext cx="4114800" cy="548640"/>
          </a:xfrm>
          <a:prstGeom prst="rect">
            <a:avLst/>
          </a:prstGeom>
          <a:noFill/>
        </p:spPr>
        <p:txBody>
          <a:bodyPr wrap="square">
            <a:spAutoFit/>
          </a:bodyPr>
          <a:lstStyle/>
          <a:p>
            <a:pPr algn="l"/>
            <a:r>
              <a:rPr b="0" i="1" sz="1000">
                <a:solidFill>
                  <a:srgbClr val="CCE5FF"/>
                </a:solidFill>
              </a:rPr>
              <a:t>Source: NCBI / National Institutes of Health – Limb Development (ncbi.nlm.nih.gov)</a:t>
            </a:r>
          </a:p>
        </p:txBody>
      </p:sp>
      <p:sp>
        <p:nvSpPr>
          <p:cNvPr id="9" name="TextBox 8"/>
          <p:cNvSpPr txBox="1"/>
          <p:nvPr/>
        </p:nvSpPr>
        <p:spPr>
          <a:xfrm>
            <a:off x="4846320" y="1097280"/>
            <a:ext cx="7040880" cy="365760"/>
          </a:xfrm>
          <a:prstGeom prst="rect">
            <a:avLst/>
          </a:prstGeom>
          <a:noFill/>
        </p:spPr>
        <p:txBody>
          <a:bodyPr wrap="square">
            <a:spAutoFit/>
          </a:bodyPr>
          <a:lstStyle/>
          <a:p>
            <a:pPr algn="l"/>
            <a:r>
              <a:rPr b="1" i="0" sz="1500">
                <a:solidFill>
                  <a:srgbClr val="FFD700"/>
                </a:solidFill>
              </a:rPr>
              <a:t>Description</a:t>
            </a:r>
          </a:p>
        </p:txBody>
      </p:sp>
      <p:sp>
        <p:nvSpPr>
          <p:cNvPr id="10" name="TextBox 9"/>
          <p:cNvSpPr txBox="1"/>
          <p:nvPr/>
        </p:nvSpPr>
        <p:spPr>
          <a:xfrm>
            <a:off x="4846320" y="1463040"/>
            <a:ext cx="7040880" cy="1371600"/>
          </a:xfrm>
          <a:prstGeom prst="rect">
            <a:avLst/>
          </a:prstGeom>
          <a:noFill/>
        </p:spPr>
        <p:txBody>
          <a:bodyPr wrap="square">
            <a:spAutoFit/>
          </a:bodyPr>
          <a:lstStyle/>
          <a:p>
            <a:pPr algn="l">
              <a:spcBef>
                <a:spcPts val="200"/>
              </a:spcBef>
            </a:pPr>
            <a:r>
              <a:rPr sz="1300" b="0">
                <a:solidFill>
                  <a:srgbClr val="FFFFFF"/>
                </a:solidFill>
              </a:rPr>
              <a:t>• All vertebrate embryos (frogs, birds, mice, humans) grow limb buds in the same basic way</a:t>
            </a:r>
          </a:p>
          <a:p>
            <a:pPr algn="l">
              <a:spcBef>
                <a:spcPts val="200"/>
              </a:spcBef>
            </a:pPr>
            <a:r>
              <a:rPr sz="1300" b="0">
                <a:solidFill>
                  <a:srgbClr val="FFFFFF"/>
                </a:solidFill>
              </a:rPr>
              <a:t>• The same genes control limb growth in all these animals</a:t>
            </a:r>
          </a:p>
          <a:p>
            <a:pPr algn="l">
              <a:spcBef>
                <a:spcPts val="200"/>
              </a:spcBef>
            </a:pPr>
            <a:r>
              <a:rPr sz="1300" b="0">
                <a:solidFill>
                  <a:srgbClr val="FFFFFF"/>
                </a:solidFill>
              </a:rPr>
              <a:t>• The limb buds develop into arms, wings, flippers, or legs depending on the species</a:t>
            </a:r>
          </a:p>
        </p:txBody>
      </p:sp>
      <p:sp>
        <p:nvSpPr>
          <p:cNvPr id="11" name="TextBox 10"/>
          <p:cNvSpPr txBox="1"/>
          <p:nvPr/>
        </p:nvSpPr>
        <p:spPr>
          <a:xfrm>
            <a:off x="4846320" y="2971800"/>
            <a:ext cx="7040880" cy="365760"/>
          </a:xfrm>
          <a:prstGeom prst="rect">
            <a:avLst/>
          </a:prstGeom>
          <a:noFill/>
        </p:spPr>
        <p:txBody>
          <a:bodyPr wrap="square">
            <a:spAutoFit/>
          </a:bodyPr>
          <a:lstStyle/>
          <a:p>
            <a:pPr algn="l"/>
            <a:r>
              <a:rPr b="1" i="0" sz="1500">
                <a:solidFill>
                  <a:srgbClr val="FFD700"/>
                </a:solidFill>
              </a:rPr>
              <a:t>How does this support evolution?</a:t>
            </a:r>
          </a:p>
        </p:txBody>
      </p:sp>
      <p:sp>
        <p:nvSpPr>
          <p:cNvPr id="12" name="TextBox 11"/>
          <p:cNvSpPr txBox="1"/>
          <p:nvPr/>
        </p:nvSpPr>
        <p:spPr>
          <a:xfrm>
            <a:off x="4846320" y="3337560"/>
            <a:ext cx="7040880" cy="2011680"/>
          </a:xfrm>
          <a:prstGeom prst="rect">
            <a:avLst/>
          </a:prstGeom>
          <a:noFill/>
        </p:spPr>
        <p:txBody>
          <a:bodyPr wrap="square">
            <a:spAutoFit/>
          </a:bodyPr>
          <a:lstStyle/>
          <a:p>
            <a:pPr algn="l"/>
            <a:r>
              <a:rPr b="0" i="0" sz="1300">
                <a:solidFill>
                  <a:srgbClr val="CCE5FF"/>
                </a:solidFill>
              </a:rPr>
              <a:t>Because the same genes and the same early stages are used to grow limbs in very different animals, they must have come from a shared ancestor. Evolution changed how those limbs ended up — not how they started.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005840"/>
          </a:xfrm>
          <a:prstGeom prst="rect">
            <a:avLst/>
          </a:prstGeom>
          <a:solidFill>
            <a:srgbClr val="B82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943600"/>
            <a:ext cx="12188952" cy="914400"/>
          </a:xfrm>
          <a:prstGeom prst="rect">
            <a:avLst/>
          </a:prstGeom>
          <a:solidFill>
            <a:srgbClr val="B82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1440"/>
            <a:ext cx="11274552" cy="822960"/>
          </a:xfrm>
          <a:prstGeom prst="rect">
            <a:avLst/>
          </a:prstGeom>
          <a:noFill/>
        </p:spPr>
        <p:txBody>
          <a:bodyPr wrap="square">
            <a:spAutoFit/>
          </a:bodyPr>
          <a:lstStyle/>
          <a:p>
            <a:pPr algn="ctr"/>
            <a:r>
              <a:rPr b="1" i="0" sz="3600">
                <a:solidFill>
                  <a:srgbClr val="FFD700"/>
                </a:solidFill>
              </a:rPr>
              <a:t>Anatomy</a:t>
            </a:r>
          </a:p>
        </p:txBody>
      </p:sp>
      <p:sp>
        <p:nvSpPr>
          <p:cNvPr id="6" name="TextBox 5"/>
          <p:cNvSpPr txBox="1"/>
          <p:nvPr/>
        </p:nvSpPr>
        <p:spPr>
          <a:xfrm>
            <a:off x="1371600" y="1828800"/>
            <a:ext cx="9445752" cy="3200400"/>
          </a:xfrm>
          <a:prstGeom prst="rect">
            <a:avLst/>
          </a:prstGeom>
          <a:noFill/>
        </p:spPr>
        <p:txBody>
          <a:bodyPr wrap="square">
            <a:spAutoFit/>
          </a:bodyPr>
          <a:lstStyle/>
          <a:p>
            <a:pPr algn="ctr"/>
            <a:r>
              <a:rPr b="0" i="0" sz="2200">
                <a:solidFill>
                  <a:srgbClr val="FFFFFF"/>
                </a:solidFill>
              </a:rPr>
              <a:t>Anatomy is the study of body structures. Comparing body parts across different animals reveals shared ancestry and how species have changed over time.</a:t>
            </a:r>
          </a:p>
        </p:txBody>
      </p:sp>
      <p:sp>
        <p:nvSpPr>
          <p:cNvPr id="7" name="TextBox 6"/>
          <p:cNvSpPr txBox="1"/>
          <p:nvPr/>
        </p:nvSpPr>
        <p:spPr>
          <a:xfrm>
            <a:off x="457200" y="5989320"/>
            <a:ext cx="11274552" cy="548640"/>
          </a:xfrm>
          <a:prstGeom prst="rect">
            <a:avLst/>
          </a:prstGeom>
          <a:noFill/>
        </p:spPr>
        <p:txBody>
          <a:bodyPr wrap="square">
            <a:spAutoFit/>
          </a:bodyPr>
          <a:lstStyle/>
          <a:p>
            <a:pPr algn="ctr"/>
            <a:r>
              <a:rPr b="0" i="1" sz="1400">
                <a:solidFill>
                  <a:srgbClr val="FFD700"/>
                </a:solidFill>
              </a:rPr>
              <a:t>Examples:  Homologous Structures  ·  Vestigial Structures – Human Tailbone  ·  Analogous Structures – Wings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60120"/>
          </a:xfrm>
          <a:prstGeom prst="rect">
            <a:avLst/>
          </a:prstGeom>
          <a:solidFill>
            <a:srgbClr val="B82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143000"/>
            <a:ext cx="4114800" cy="3017520"/>
          </a:xfrm>
          <a:prstGeom prst="rect">
            <a:avLst/>
          </a:prstGeom>
          <a:solidFill>
            <a:srgbClr val="2E4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617720" y="1051560"/>
            <a:ext cx="45720" cy="5486400"/>
          </a:xfrm>
          <a:prstGeom prst="rect">
            <a:avLst/>
          </a:prstGeom>
          <a:solidFill>
            <a:srgbClr val="B82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73152"/>
            <a:ext cx="11640312" cy="804672"/>
          </a:xfrm>
          <a:prstGeom prst="rect">
            <a:avLst/>
          </a:prstGeom>
          <a:noFill/>
        </p:spPr>
        <p:txBody>
          <a:bodyPr wrap="square">
            <a:spAutoFit/>
          </a:bodyPr>
          <a:lstStyle/>
          <a:p>
            <a:pPr algn="l"/>
            <a:r>
              <a:rPr b="1" i="0" sz="2600">
                <a:solidFill>
                  <a:srgbClr val="FFD700"/>
                </a:solidFill>
              </a:rPr>
              <a:t>Anatomy – Homologous Structures</a:t>
            </a:r>
          </a:p>
        </p:txBody>
      </p:sp>
      <p:sp>
        <p:nvSpPr>
          <p:cNvPr id="7" name="TextBox 6"/>
          <p:cNvSpPr txBox="1"/>
          <p:nvPr/>
        </p:nvSpPr>
        <p:spPr>
          <a:xfrm>
            <a:off x="320040" y="2331720"/>
            <a:ext cx="4023360" cy="548640"/>
          </a:xfrm>
          <a:prstGeom prst="rect">
            <a:avLst/>
          </a:prstGeom>
          <a:noFill/>
        </p:spPr>
        <p:txBody>
          <a:bodyPr wrap="square">
            <a:spAutoFit/>
          </a:bodyPr>
          <a:lstStyle/>
          <a:p>
            <a:pPr algn="ctr"/>
            <a:r>
              <a:rPr b="0" i="1" sz="1300">
                <a:solidFill>
                  <a:srgbClr val="CCE5FF"/>
                </a:solidFill>
              </a:rPr>
              <a:t>[ Image: Homologous Structures ]</a:t>
            </a:r>
          </a:p>
        </p:txBody>
      </p:sp>
      <p:sp>
        <p:nvSpPr>
          <p:cNvPr id="8" name="TextBox 7"/>
          <p:cNvSpPr txBox="1"/>
          <p:nvPr/>
        </p:nvSpPr>
        <p:spPr>
          <a:xfrm>
            <a:off x="274320" y="4251960"/>
            <a:ext cx="4114800" cy="548640"/>
          </a:xfrm>
          <a:prstGeom prst="rect">
            <a:avLst/>
          </a:prstGeom>
          <a:noFill/>
        </p:spPr>
        <p:txBody>
          <a:bodyPr wrap="square">
            <a:spAutoFit/>
          </a:bodyPr>
          <a:lstStyle/>
          <a:p>
            <a:pPr algn="l"/>
            <a:r>
              <a:rPr b="0" i="1" sz="1000">
                <a:solidFill>
                  <a:srgbClr val="CCE5FF"/>
                </a:solidFill>
              </a:rPr>
              <a:t>Source: Khan Academy – Homologous Structures (khanacademy.org)</a:t>
            </a:r>
          </a:p>
        </p:txBody>
      </p:sp>
      <p:sp>
        <p:nvSpPr>
          <p:cNvPr id="9" name="TextBox 8"/>
          <p:cNvSpPr txBox="1"/>
          <p:nvPr/>
        </p:nvSpPr>
        <p:spPr>
          <a:xfrm>
            <a:off x="4846320" y="1097280"/>
            <a:ext cx="7040880" cy="365760"/>
          </a:xfrm>
          <a:prstGeom prst="rect">
            <a:avLst/>
          </a:prstGeom>
          <a:noFill/>
        </p:spPr>
        <p:txBody>
          <a:bodyPr wrap="square">
            <a:spAutoFit/>
          </a:bodyPr>
          <a:lstStyle/>
          <a:p>
            <a:pPr algn="l"/>
            <a:r>
              <a:rPr b="1" i="0" sz="1500">
                <a:solidFill>
                  <a:srgbClr val="FFD700"/>
                </a:solidFill>
              </a:rPr>
              <a:t>Description</a:t>
            </a:r>
          </a:p>
        </p:txBody>
      </p:sp>
      <p:sp>
        <p:nvSpPr>
          <p:cNvPr id="10" name="TextBox 9"/>
          <p:cNvSpPr txBox="1"/>
          <p:nvPr/>
        </p:nvSpPr>
        <p:spPr>
          <a:xfrm>
            <a:off x="4846320" y="1463040"/>
            <a:ext cx="7040880" cy="1371600"/>
          </a:xfrm>
          <a:prstGeom prst="rect">
            <a:avLst/>
          </a:prstGeom>
          <a:noFill/>
        </p:spPr>
        <p:txBody>
          <a:bodyPr wrap="square">
            <a:spAutoFit/>
          </a:bodyPr>
          <a:lstStyle/>
          <a:p>
            <a:pPr algn="l">
              <a:spcBef>
                <a:spcPts val="200"/>
              </a:spcBef>
            </a:pPr>
            <a:r>
              <a:rPr sz="1300" b="0">
                <a:solidFill>
                  <a:srgbClr val="FFFFFF"/>
                </a:solidFill>
              </a:rPr>
              <a:t>• Humans, bats, whales, and cats all have the same set of arm/hand bones</a:t>
            </a:r>
          </a:p>
          <a:p>
            <a:pPr algn="l">
              <a:spcBef>
                <a:spcPts val="200"/>
              </a:spcBef>
            </a:pPr>
            <a:r>
              <a:rPr sz="1300" b="0">
                <a:solidFill>
                  <a:srgbClr val="FFFFFF"/>
                </a:solidFill>
              </a:rPr>
              <a:t>• The bones are used for very different things — grabbing, flying, swimming, walking</a:t>
            </a:r>
          </a:p>
          <a:p>
            <a:pPr algn="l">
              <a:spcBef>
                <a:spcPts val="200"/>
              </a:spcBef>
            </a:pPr>
            <a:r>
              <a:rPr sz="1300" b="0">
                <a:solidFill>
                  <a:srgbClr val="FFFFFF"/>
                </a:solidFill>
              </a:rPr>
              <a:t>• The bones look different on the outside but have the same inner structure</a:t>
            </a:r>
          </a:p>
        </p:txBody>
      </p:sp>
      <p:sp>
        <p:nvSpPr>
          <p:cNvPr id="11" name="TextBox 10"/>
          <p:cNvSpPr txBox="1"/>
          <p:nvPr/>
        </p:nvSpPr>
        <p:spPr>
          <a:xfrm>
            <a:off x="4846320" y="2971800"/>
            <a:ext cx="7040880" cy="365760"/>
          </a:xfrm>
          <a:prstGeom prst="rect">
            <a:avLst/>
          </a:prstGeom>
          <a:noFill/>
        </p:spPr>
        <p:txBody>
          <a:bodyPr wrap="square">
            <a:spAutoFit/>
          </a:bodyPr>
          <a:lstStyle/>
          <a:p>
            <a:pPr algn="l"/>
            <a:r>
              <a:rPr b="1" i="0" sz="1500">
                <a:solidFill>
                  <a:srgbClr val="FFD700"/>
                </a:solidFill>
              </a:rPr>
              <a:t>How does this support evolution?</a:t>
            </a:r>
          </a:p>
        </p:txBody>
      </p:sp>
      <p:sp>
        <p:nvSpPr>
          <p:cNvPr id="12" name="TextBox 11"/>
          <p:cNvSpPr txBox="1"/>
          <p:nvPr/>
        </p:nvSpPr>
        <p:spPr>
          <a:xfrm>
            <a:off x="4846320" y="3337560"/>
            <a:ext cx="7040880" cy="2011680"/>
          </a:xfrm>
          <a:prstGeom prst="rect">
            <a:avLst/>
          </a:prstGeom>
          <a:noFill/>
        </p:spPr>
        <p:txBody>
          <a:bodyPr wrap="square">
            <a:spAutoFit/>
          </a:bodyPr>
          <a:lstStyle/>
          <a:p>
            <a:pPr algn="l"/>
            <a:r>
              <a:rPr b="0" i="0" sz="1300">
                <a:solidFill>
                  <a:srgbClr val="CCE5FF"/>
                </a:solidFill>
              </a:rPr>
              <a:t>Having the same bones arranged in the same way shows these animals evolved from a common ancestor. Evolution changed the size and shape of those bones to fit each animal's lifestyle.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60120"/>
          </a:xfrm>
          <a:prstGeom prst="rect">
            <a:avLst/>
          </a:prstGeom>
          <a:solidFill>
            <a:srgbClr val="B82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143000"/>
            <a:ext cx="4114800" cy="3017520"/>
          </a:xfrm>
          <a:prstGeom prst="rect">
            <a:avLst/>
          </a:prstGeom>
          <a:solidFill>
            <a:srgbClr val="2E4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617720" y="1051560"/>
            <a:ext cx="45720" cy="5486400"/>
          </a:xfrm>
          <a:prstGeom prst="rect">
            <a:avLst/>
          </a:prstGeom>
          <a:solidFill>
            <a:srgbClr val="B82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73152"/>
            <a:ext cx="11640312" cy="804672"/>
          </a:xfrm>
          <a:prstGeom prst="rect">
            <a:avLst/>
          </a:prstGeom>
          <a:noFill/>
        </p:spPr>
        <p:txBody>
          <a:bodyPr wrap="square">
            <a:spAutoFit/>
          </a:bodyPr>
          <a:lstStyle/>
          <a:p>
            <a:pPr algn="l"/>
            <a:r>
              <a:rPr b="1" i="0" sz="2600">
                <a:solidFill>
                  <a:srgbClr val="FFD700"/>
                </a:solidFill>
              </a:rPr>
              <a:t>Anatomy – Vestigial Structures – Human Tailbone</a:t>
            </a:r>
          </a:p>
        </p:txBody>
      </p:sp>
      <p:sp>
        <p:nvSpPr>
          <p:cNvPr id="7" name="TextBox 6"/>
          <p:cNvSpPr txBox="1"/>
          <p:nvPr/>
        </p:nvSpPr>
        <p:spPr>
          <a:xfrm>
            <a:off x="320040" y="2331720"/>
            <a:ext cx="4023360" cy="548640"/>
          </a:xfrm>
          <a:prstGeom prst="rect">
            <a:avLst/>
          </a:prstGeom>
          <a:noFill/>
        </p:spPr>
        <p:txBody>
          <a:bodyPr wrap="square">
            <a:spAutoFit/>
          </a:bodyPr>
          <a:lstStyle/>
          <a:p>
            <a:pPr algn="ctr"/>
            <a:r>
              <a:rPr b="0" i="1" sz="1300">
                <a:solidFill>
                  <a:srgbClr val="CCE5FF"/>
                </a:solidFill>
              </a:rPr>
              <a:t>[ Image: Vestigial Structures – Human Tailbone ]</a:t>
            </a:r>
          </a:p>
        </p:txBody>
      </p:sp>
      <p:sp>
        <p:nvSpPr>
          <p:cNvPr id="8" name="TextBox 7"/>
          <p:cNvSpPr txBox="1"/>
          <p:nvPr/>
        </p:nvSpPr>
        <p:spPr>
          <a:xfrm>
            <a:off x="274320" y="4251960"/>
            <a:ext cx="4114800" cy="548640"/>
          </a:xfrm>
          <a:prstGeom prst="rect">
            <a:avLst/>
          </a:prstGeom>
          <a:noFill/>
        </p:spPr>
        <p:txBody>
          <a:bodyPr wrap="square">
            <a:spAutoFit/>
          </a:bodyPr>
          <a:lstStyle/>
          <a:p>
            <a:pPr algn="l"/>
            <a:r>
              <a:rPr b="0" i="1" sz="1000">
                <a:solidFill>
                  <a:srgbClr val="CCE5FF"/>
                </a:solidFill>
              </a:rPr>
              <a:t>Source: Britannica – Vestigial Organ (britannica.com)</a:t>
            </a:r>
          </a:p>
        </p:txBody>
      </p:sp>
      <p:sp>
        <p:nvSpPr>
          <p:cNvPr id="9" name="TextBox 8"/>
          <p:cNvSpPr txBox="1"/>
          <p:nvPr/>
        </p:nvSpPr>
        <p:spPr>
          <a:xfrm>
            <a:off x="4846320" y="1097280"/>
            <a:ext cx="7040880" cy="365760"/>
          </a:xfrm>
          <a:prstGeom prst="rect">
            <a:avLst/>
          </a:prstGeom>
          <a:noFill/>
        </p:spPr>
        <p:txBody>
          <a:bodyPr wrap="square">
            <a:spAutoFit/>
          </a:bodyPr>
          <a:lstStyle/>
          <a:p>
            <a:pPr algn="l"/>
            <a:r>
              <a:rPr b="1" i="0" sz="1500">
                <a:solidFill>
                  <a:srgbClr val="FFD700"/>
                </a:solidFill>
              </a:rPr>
              <a:t>Description</a:t>
            </a:r>
          </a:p>
        </p:txBody>
      </p:sp>
      <p:sp>
        <p:nvSpPr>
          <p:cNvPr id="10" name="TextBox 9"/>
          <p:cNvSpPr txBox="1"/>
          <p:nvPr/>
        </p:nvSpPr>
        <p:spPr>
          <a:xfrm>
            <a:off x="4846320" y="1463040"/>
            <a:ext cx="7040880" cy="1371600"/>
          </a:xfrm>
          <a:prstGeom prst="rect">
            <a:avLst/>
          </a:prstGeom>
          <a:noFill/>
        </p:spPr>
        <p:txBody>
          <a:bodyPr wrap="square">
            <a:spAutoFit/>
          </a:bodyPr>
          <a:lstStyle/>
          <a:p>
            <a:pPr algn="l">
              <a:spcBef>
                <a:spcPts val="200"/>
              </a:spcBef>
            </a:pPr>
            <a:r>
              <a:rPr sz="1300" b="0">
                <a:solidFill>
                  <a:srgbClr val="FFFFFF"/>
                </a:solidFill>
              </a:rPr>
              <a:t>• Humans have a small bone at the bottom of the spine called the coccyx (tailbone)</a:t>
            </a:r>
          </a:p>
          <a:p>
            <a:pPr algn="l">
              <a:spcBef>
                <a:spcPts val="200"/>
              </a:spcBef>
            </a:pPr>
            <a:r>
              <a:rPr sz="1300" b="0">
                <a:solidFill>
                  <a:srgbClr val="FFFFFF"/>
                </a:solidFill>
              </a:rPr>
              <a:t>• It does not support a tail and has very little function in people</a:t>
            </a:r>
          </a:p>
          <a:p>
            <a:pPr algn="l">
              <a:spcBef>
                <a:spcPts val="200"/>
              </a:spcBef>
            </a:pPr>
            <a:r>
              <a:rPr sz="1300" b="0">
                <a:solidFill>
                  <a:srgbClr val="FFFFFF"/>
                </a:solidFill>
              </a:rPr>
              <a:t>• Other primates and many mammals use a similar structure to support their tails</a:t>
            </a:r>
          </a:p>
        </p:txBody>
      </p:sp>
      <p:sp>
        <p:nvSpPr>
          <p:cNvPr id="11" name="TextBox 10"/>
          <p:cNvSpPr txBox="1"/>
          <p:nvPr/>
        </p:nvSpPr>
        <p:spPr>
          <a:xfrm>
            <a:off x="4846320" y="2971800"/>
            <a:ext cx="7040880" cy="365760"/>
          </a:xfrm>
          <a:prstGeom prst="rect">
            <a:avLst/>
          </a:prstGeom>
          <a:noFill/>
        </p:spPr>
        <p:txBody>
          <a:bodyPr wrap="square">
            <a:spAutoFit/>
          </a:bodyPr>
          <a:lstStyle/>
          <a:p>
            <a:pPr algn="l"/>
            <a:r>
              <a:rPr b="1" i="0" sz="1500">
                <a:solidFill>
                  <a:srgbClr val="FFD700"/>
                </a:solidFill>
              </a:rPr>
              <a:t>How does this support evolution?</a:t>
            </a:r>
          </a:p>
        </p:txBody>
      </p:sp>
      <p:sp>
        <p:nvSpPr>
          <p:cNvPr id="12" name="TextBox 11"/>
          <p:cNvSpPr txBox="1"/>
          <p:nvPr/>
        </p:nvSpPr>
        <p:spPr>
          <a:xfrm>
            <a:off x="4846320" y="3337560"/>
            <a:ext cx="7040880" cy="2011680"/>
          </a:xfrm>
          <a:prstGeom prst="rect">
            <a:avLst/>
          </a:prstGeom>
          <a:noFill/>
        </p:spPr>
        <p:txBody>
          <a:bodyPr wrap="square">
            <a:spAutoFit/>
          </a:bodyPr>
          <a:lstStyle/>
          <a:p>
            <a:pPr algn="l"/>
            <a:r>
              <a:rPr b="0" i="0" sz="1300">
                <a:solidFill>
                  <a:srgbClr val="CCE5FF"/>
                </a:solidFill>
              </a:rPr>
              <a:t>The tailbone is a vestigial structure — a leftover body part from an ancestor that actually used it. This supports evolution by showing that humans are related to animals that once had tails.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60120"/>
          </a:xfrm>
          <a:prstGeom prst="rect">
            <a:avLst/>
          </a:prstGeom>
          <a:solidFill>
            <a:srgbClr val="B82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143000"/>
            <a:ext cx="4114800" cy="3017520"/>
          </a:xfrm>
          <a:prstGeom prst="rect">
            <a:avLst/>
          </a:prstGeom>
          <a:solidFill>
            <a:srgbClr val="2E4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617720" y="1051560"/>
            <a:ext cx="45720" cy="5486400"/>
          </a:xfrm>
          <a:prstGeom prst="rect">
            <a:avLst/>
          </a:prstGeom>
          <a:solidFill>
            <a:srgbClr val="B82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73152"/>
            <a:ext cx="11640312" cy="804672"/>
          </a:xfrm>
          <a:prstGeom prst="rect">
            <a:avLst/>
          </a:prstGeom>
          <a:noFill/>
        </p:spPr>
        <p:txBody>
          <a:bodyPr wrap="square">
            <a:spAutoFit/>
          </a:bodyPr>
          <a:lstStyle/>
          <a:p>
            <a:pPr algn="l"/>
            <a:r>
              <a:rPr b="1" i="0" sz="2600">
                <a:solidFill>
                  <a:srgbClr val="FFD700"/>
                </a:solidFill>
              </a:rPr>
              <a:t>Anatomy – Analogous Structures – Wings</a:t>
            </a:r>
          </a:p>
        </p:txBody>
      </p:sp>
      <p:sp>
        <p:nvSpPr>
          <p:cNvPr id="7" name="TextBox 6"/>
          <p:cNvSpPr txBox="1"/>
          <p:nvPr/>
        </p:nvSpPr>
        <p:spPr>
          <a:xfrm>
            <a:off x="320040" y="2331720"/>
            <a:ext cx="4023360" cy="548640"/>
          </a:xfrm>
          <a:prstGeom prst="rect">
            <a:avLst/>
          </a:prstGeom>
          <a:noFill/>
        </p:spPr>
        <p:txBody>
          <a:bodyPr wrap="square">
            <a:spAutoFit/>
          </a:bodyPr>
          <a:lstStyle/>
          <a:p>
            <a:pPr algn="ctr"/>
            <a:r>
              <a:rPr b="0" i="1" sz="1300">
                <a:solidFill>
                  <a:srgbClr val="CCE5FF"/>
                </a:solidFill>
              </a:rPr>
              <a:t>[ Image: Analogous Structures – Wings ]</a:t>
            </a:r>
          </a:p>
        </p:txBody>
      </p:sp>
      <p:sp>
        <p:nvSpPr>
          <p:cNvPr id="8" name="TextBox 7"/>
          <p:cNvSpPr txBox="1"/>
          <p:nvPr/>
        </p:nvSpPr>
        <p:spPr>
          <a:xfrm>
            <a:off x="274320" y="4251960"/>
            <a:ext cx="4114800" cy="548640"/>
          </a:xfrm>
          <a:prstGeom prst="rect">
            <a:avLst/>
          </a:prstGeom>
          <a:noFill/>
        </p:spPr>
        <p:txBody>
          <a:bodyPr wrap="square">
            <a:spAutoFit/>
          </a:bodyPr>
          <a:lstStyle/>
          <a:p>
            <a:pPr algn="l"/>
            <a:r>
              <a:rPr b="0" i="1" sz="1000">
                <a:solidFill>
                  <a:srgbClr val="CCE5FF"/>
                </a:solidFill>
              </a:rPr>
              <a:t>Source: National Geographic – Convergent Evolution (nationalgeographic.com)</a:t>
            </a:r>
          </a:p>
        </p:txBody>
      </p:sp>
      <p:sp>
        <p:nvSpPr>
          <p:cNvPr id="9" name="TextBox 8"/>
          <p:cNvSpPr txBox="1"/>
          <p:nvPr/>
        </p:nvSpPr>
        <p:spPr>
          <a:xfrm>
            <a:off x="4846320" y="1097280"/>
            <a:ext cx="7040880" cy="365760"/>
          </a:xfrm>
          <a:prstGeom prst="rect">
            <a:avLst/>
          </a:prstGeom>
          <a:noFill/>
        </p:spPr>
        <p:txBody>
          <a:bodyPr wrap="square">
            <a:spAutoFit/>
          </a:bodyPr>
          <a:lstStyle/>
          <a:p>
            <a:pPr algn="l"/>
            <a:r>
              <a:rPr b="1" i="0" sz="1500">
                <a:solidFill>
                  <a:srgbClr val="FFD700"/>
                </a:solidFill>
              </a:rPr>
              <a:t>Description</a:t>
            </a:r>
          </a:p>
        </p:txBody>
      </p:sp>
      <p:sp>
        <p:nvSpPr>
          <p:cNvPr id="10" name="TextBox 9"/>
          <p:cNvSpPr txBox="1"/>
          <p:nvPr/>
        </p:nvSpPr>
        <p:spPr>
          <a:xfrm>
            <a:off x="4846320" y="1463040"/>
            <a:ext cx="7040880" cy="1371600"/>
          </a:xfrm>
          <a:prstGeom prst="rect">
            <a:avLst/>
          </a:prstGeom>
          <a:noFill/>
        </p:spPr>
        <p:txBody>
          <a:bodyPr wrap="square">
            <a:spAutoFit/>
          </a:bodyPr>
          <a:lstStyle/>
          <a:p>
            <a:pPr algn="l">
              <a:spcBef>
                <a:spcPts val="200"/>
              </a:spcBef>
            </a:pPr>
            <a:r>
              <a:rPr sz="1300" b="0">
                <a:solidFill>
                  <a:srgbClr val="FFFFFF"/>
                </a:solidFill>
              </a:rPr>
              <a:t>• Birds and bats both have wings for flying, but their wings are built differently</a:t>
            </a:r>
          </a:p>
          <a:p>
            <a:pPr algn="l">
              <a:spcBef>
                <a:spcPts val="200"/>
              </a:spcBef>
            </a:pPr>
            <a:r>
              <a:rPr sz="1300" b="0">
                <a:solidFill>
                  <a:srgbClr val="FFFFFF"/>
                </a:solidFill>
              </a:rPr>
              <a:t>• Bird wings have feathers; bat wings are made of stretched skin</a:t>
            </a:r>
          </a:p>
          <a:p>
            <a:pPr algn="l">
              <a:spcBef>
                <a:spcPts val="200"/>
              </a:spcBef>
            </a:pPr>
            <a:r>
              <a:rPr sz="1300" b="0">
                <a:solidFill>
                  <a:srgbClr val="FFFFFF"/>
                </a:solidFill>
              </a:rPr>
              <a:t>• They evolved wings separately to solve the same problem: flight</a:t>
            </a:r>
          </a:p>
        </p:txBody>
      </p:sp>
      <p:sp>
        <p:nvSpPr>
          <p:cNvPr id="11" name="TextBox 10"/>
          <p:cNvSpPr txBox="1"/>
          <p:nvPr/>
        </p:nvSpPr>
        <p:spPr>
          <a:xfrm>
            <a:off x="4846320" y="2971800"/>
            <a:ext cx="7040880" cy="365760"/>
          </a:xfrm>
          <a:prstGeom prst="rect">
            <a:avLst/>
          </a:prstGeom>
          <a:noFill/>
        </p:spPr>
        <p:txBody>
          <a:bodyPr wrap="square">
            <a:spAutoFit/>
          </a:bodyPr>
          <a:lstStyle/>
          <a:p>
            <a:pPr algn="l"/>
            <a:r>
              <a:rPr b="1" i="0" sz="1500">
                <a:solidFill>
                  <a:srgbClr val="FFD700"/>
                </a:solidFill>
              </a:rPr>
              <a:t>How does this support evolution?</a:t>
            </a:r>
          </a:p>
        </p:txBody>
      </p:sp>
      <p:sp>
        <p:nvSpPr>
          <p:cNvPr id="12" name="TextBox 11"/>
          <p:cNvSpPr txBox="1"/>
          <p:nvPr/>
        </p:nvSpPr>
        <p:spPr>
          <a:xfrm>
            <a:off x="4846320" y="3337560"/>
            <a:ext cx="7040880" cy="2011680"/>
          </a:xfrm>
          <a:prstGeom prst="rect">
            <a:avLst/>
          </a:prstGeom>
          <a:noFill/>
        </p:spPr>
        <p:txBody>
          <a:bodyPr wrap="square">
            <a:spAutoFit/>
          </a:bodyPr>
          <a:lstStyle/>
          <a:p>
            <a:pPr algn="l"/>
            <a:r>
              <a:rPr b="0" i="0" sz="1300">
                <a:solidFill>
                  <a:srgbClr val="CCE5FF"/>
                </a:solidFill>
              </a:rPr>
              <a:t>Analogous structures like bird and bat wings show that different animals can independently evolve similar solutions to the same challenge. This process — called convergent evolution — shows how natural selection shapes life in similar ways.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005840"/>
          </a:xfrm>
          <a:prstGeom prst="rect">
            <a:avLst/>
          </a:prstGeom>
          <a:solidFill>
            <a:srgbClr val="1A53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943600"/>
            <a:ext cx="12188952" cy="914400"/>
          </a:xfrm>
          <a:prstGeom prst="rect">
            <a:avLst/>
          </a:prstGeom>
          <a:solidFill>
            <a:srgbClr val="1A53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1440"/>
            <a:ext cx="11274552" cy="822960"/>
          </a:xfrm>
          <a:prstGeom prst="rect">
            <a:avLst/>
          </a:prstGeom>
          <a:noFill/>
        </p:spPr>
        <p:txBody>
          <a:bodyPr wrap="square">
            <a:spAutoFit/>
          </a:bodyPr>
          <a:lstStyle/>
          <a:p>
            <a:pPr algn="ctr"/>
            <a:r>
              <a:rPr b="1" i="0" sz="3600">
                <a:solidFill>
                  <a:srgbClr val="FFD700"/>
                </a:solidFill>
              </a:rPr>
              <a:t>Biochemistry</a:t>
            </a:r>
          </a:p>
        </p:txBody>
      </p:sp>
      <p:sp>
        <p:nvSpPr>
          <p:cNvPr id="6" name="TextBox 5"/>
          <p:cNvSpPr txBox="1"/>
          <p:nvPr/>
        </p:nvSpPr>
        <p:spPr>
          <a:xfrm>
            <a:off x="1371600" y="1828800"/>
            <a:ext cx="9445752" cy="3200400"/>
          </a:xfrm>
          <a:prstGeom prst="rect">
            <a:avLst/>
          </a:prstGeom>
          <a:noFill/>
        </p:spPr>
        <p:txBody>
          <a:bodyPr wrap="square">
            <a:spAutoFit/>
          </a:bodyPr>
          <a:lstStyle/>
          <a:p>
            <a:pPr algn="ctr"/>
            <a:r>
              <a:rPr b="0" i="0" sz="2200">
                <a:solidFill>
                  <a:srgbClr val="FFFFFF"/>
                </a:solidFill>
              </a:rPr>
              <a:t>Biochemistry compares the chemicals inside living things — like DNA and proteins. The more similar two species' chemistry is, the more closely related they are.</a:t>
            </a:r>
          </a:p>
        </p:txBody>
      </p:sp>
      <p:sp>
        <p:nvSpPr>
          <p:cNvPr id="7" name="TextBox 6"/>
          <p:cNvSpPr txBox="1"/>
          <p:nvPr/>
        </p:nvSpPr>
        <p:spPr>
          <a:xfrm>
            <a:off x="457200" y="5989320"/>
            <a:ext cx="11274552" cy="548640"/>
          </a:xfrm>
          <a:prstGeom prst="rect">
            <a:avLst/>
          </a:prstGeom>
          <a:noFill/>
        </p:spPr>
        <p:txBody>
          <a:bodyPr wrap="square">
            <a:spAutoFit/>
          </a:bodyPr>
          <a:lstStyle/>
          <a:p>
            <a:pPr algn="ctr"/>
            <a:r>
              <a:rPr b="0" i="1" sz="1400">
                <a:solidFill>
                  <a:srgbClr val="FFD700"/>
                </a:solidFill>
              </a:rPr>
              <a:t>Examples:  DNA Similarity: Humans and Chimps  ·  Cytochrome C Protein  ·  Universal Genetic Code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60120"/>
          </a:xfrm>
          <a:prstGeom prst="rect">
            <a:avLst/>
          </a:prstGeom>
          <a:solidFill>
            <a:srgbClr val="1A53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143000"/>
            <a:ext cx="4114800" cy="3017520"/>
          </a:xfrm>
          <a:prstGeom prst="rect">
            <a:avLst/>
          </a:prstGeom>
          <a:solidFill>
            <a:srgbClr val="2E4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617720" y="1051560"/>
            <a:ext cx="45720" cy="5486400"/>
          </a:xfrm>
          <a:prstGeom prst="rect">
            <a:avLst/>
          </a:prstGeom>
          <a:solidFill>
            <a:srgbClr val="1A53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73152"/>
            <a:ext cx="11640312" cy="804672"/>
          </a:xfrm>
          <a:prstGeom prst="rect">
            <a:avLst/>
          </a:prstGeom>
          <a:noFill/>
        </p:spPr>
        <p:txBody>
          <a:bodyPr wrap="square">
            <a:spAutoFit/>
          </a:bodyPr>
          <a:lstStyle/>
          <a:p>
            <a:pPr algn="l"/>
            <a:r>
              <a:rPr b="1" i="0" sz="2600">
                <a:solidFill>
                  <a:srgbClr val="FFD700"/>
                </a:solidFill>
              </a:rPr>
              <a:t>Biochemistry – DNA Similarity: Humans and Chimps</a:t>
            </a:r>
          </a:p>
        </p:txBody>
      </p:sp>
      <p:sp>
        <p:nvSpPr>
          <p:cNvPr id="7" name="TextBox 6"/>
          <p:cNvSpPr txBox="1"/>
          <p:nvPr/>
        </p:nvSpPr>
        <p:spPr>
          <a:xfrm>
            <a:off x="320040" y="2331720"/>
            <a:ext cx="4023360" cy="548640"/>
          </a:xfrm>
          <a:prstGeom prst="rect">
            <a:avLst/>
          </a:prstGeom>
          <a:noFill/>
        </p:spPr>
        <p:txBody>
          <a:bodyPr wrap="square">
            <a:spAutoFit/>
          </a:bodyPr>
          <a:lstStyle/>
          <a:p>
            <a:pPr algn="ctr"/>
            <a:r>
              <a:rPr b="0" i="1" sz="1300">
                <a:solidFill>
                  <a:srgbClr val="CCE5FF"/>
                </a:solidFill>
              </a:rPr>
              <a:t>[ Image: DNA Similarity: Humans and Chimps ]</a:t>
            </a:r>
          </a:p>
        </p:txBody>
      </p:sp>
      <p:sp>
        <p:nvSpPr>
          <p:cNvPr id="8" name="TextBox 7"/>
          <p:cNvSpPr txBox="1"/>
          <p:nvPr/>
        </p:nvSpPr>
        <p:spPr>
          <a:xfrm>
            <a:off x="274320" y="4251960"/>
            <a:ext cx="4114800" cy="548640"/>
          </a:xfrm>
          <a:prstGeom prst="rect">
            <a:avLst/>
          </a:prstGeom>
          <a:noFill/>
        </p:spPr>
        <p:txBody>
          <a:bodyPr wrap="square">
            <a:spAutoFit/>
          </a:bodyPr>
          <a:lstStyle/>
          <a:p>
            <a:pPr algn="l"/>
            <a:r>
              <a:rPr b="0" i="1" sz="1000">
                <a:solidFill>
                  <a:srgbClr val="CCE5FF"/>
                </a:solidFill>
              </a:rPr>
              <a:t>Source: Khan Academy – Molecular Evidence for Evolution (khanacademy.org)</a:t>
            </a:r>
          </a:p>
        </p:txBody>
      </p:sp>
      <p:sp>
        <p:nvSpPr>
          <p:cNvPr id="9" name="TextBox 8"/>
          <p:cNvSpPr txBox="1"/>
          <p:nvPr/>
        </p:nvSpPr>
        <p:spPr>
          <a:xfrm>
            <a:off x="4846320" y="1097280"/>
            <a:ext cx="7040880" cy="365760"/>
          </a:xfrm>
          <a:prstGeom prst="rect">
            <a:avLst/>
          </a:prstGeom>
          <a:noFill/>
        </p:spPr>
        <p:txBody>
          <a:bodyPr wrap="square">
            <a:spAutoFit/>
          </a:bodyPr>
          <a:lstStyle/>
          <a:p>
            <a:pPr algn="l"/>
            <a:r>
              <a:rPr b="1" i="0" sz="1500">
                <a:solidFill>
                  <a:srgbClr val="FFD700"/>
                </a:solidFill>
              </a:rPr>
              <a:t>Description</a:t>
            </a:r>
          </a:p>
        </p:txBody>
      </p:sp>
      <p:sp>
        <p:nvSpPr>
          <p:cNvPr id="10" name="TextBox 9"/>
          <p:cNvSpPr txBox="1"/>
          <p:nvPr/>
        </p:nvSpPr>
        <p:spPr>
          <a:xfrm>
            <a:off x="4846320" y="1463040"/>
            <a:ext cx="7040880" cy="1371600"/>
          </a:xfrm>
          <a:prstGeom prst="rect">
            <a:avLst/>
          </a:prstGeom>
          <a:noFill/>
        </p:spPr>
        <p:txBody>
          <a:bodyPr wrap="square">
            <a:spAutoFit/>
          </a:bodyPr>
          <a:lstStyle/>
          <a:p>
            <a:pPr algn="l">
              <a:spcBef>
                <a:spcPts val="200"/>
              </a:spcBef>
            </a:pPr>
            <a:r>
              <a:rPr sz="1300" b="0">
                <a:solidFill>
                  <a:srgbClr val="FFFFFF"/>
                </a:solidFill>
              </a:rPr>
              <a:t>• Human DNA and chimpanzee DNA are about 98–99% identical</a:t>
            </a:r>
          </a:p>
          <a:p>
            <a:pPr algn="l">
              <a:spcBef>
                <a:spcPts val="200"/>
              </a:spcBef>
            </a:pPr>
            <a:r>
              <a:rPr sz="1300" b="0">
                <a:solidFill>
                  <a:srgbClr val="FFFFFF"/>
                </a:solidFill>
              </a:rPr>
              <a:t>• The differences in our DNA account for things like brain size and body shape</a:t>
            </a:r>
          </a:p>
          <a:p>
            <a:pPr algn="l">
              <a:spcBef>
                <a:spcPts val="200"/>
              </a:spcBef>
            </a:pPr>
            <a:r>
              <a:rPr sz="1300" b="0">
                <a:solidFill>
                  <a:srgbClr val="FFFFFF"/>
                </a:solidFill>
              </a:rPr>
              <a:t>• The closer two species' DNA, the more recently they shared a common ancestor</a:t>
            </a:r>
          </a:p>
        </p:txBody>
      </p:sp>
      <p:sp>
        <p:nvSpPr>
          <p:cNvPr id="11" name="TextBox 10"/>
          <p:cNvSpPr txBox="1"/>
          <p:nvPr/>
        </p:nvSpPr>
        <p:spPr>
          <a:xfrm>
            <a:off x="4846320" y="2971800"/>
            <a:ext cx="7040880" cy="365760"/>
          </a:xfrm>
          <a:prstGeom prst="rect">
            <a:avLst/>
          </a:prstGeom>
          <a:noFill/>
        </p:spPr>
        <p:txBody>
          <a:bodyPr wrap="square">
            <a:spAutoFit/>
          </a:bodyPr>
          <a:lstStyle/>
          <a:p>
            <a:pPr algn="l"/>
            <a:r>
              <a:rPr b="1" i="0" sz="1500">
                <a:solidFill>
                  <a:srgbClr val="FFD700"/>
                </a:solidFill>
              </a:rPr>
              <a:t>How does this support evolution?</a:t>
            </a:r>
          </a:p>
        </p:txBody>
      </p:sp>
      <p:sp>
        <p:nvSpPr>
          <p:cNvPr id="12" name="TextBox 11"/>
          <p:cNvSpPr txBox="1"/>
          <p:nvPr/>
        </p:nvSpPr>
        <p:spPr>
          <a:xfrm>
            <a:off x="4846320" y="3337560"/>
            <a:ext cx="7040880" cy="2011680"/>
          </a:xfrm>
          <a:prstGeom prst="rect">
            <a:avLst/>
          </a:prstGeom>
          <a:noFill/>
        </p:spPr>
        <p:txBody>
          <a:bodyPr wrap="square">
            <a:spAutoFit/>
          </a:bodyPr>
          <a:lstStyle/>
          <a:p>
            <a:pPr algn="l"/>
            <a:r>
              <a:rPr b="0" i="0" sz="1300">
                <a:solidFill>
                  <a:srgbClr val="CCE5FF"/>
                </a:solidFill>
              </a:rPr>
              <a:t>The near-identical DNA between humans and chimps is strong evidence that we share a recent common ancestor. Small changes in DNA over millions of years can lead to very different-looking animals.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60120"/>
          </a:xfrm>
          <a:prstGeom prst="rect">
            <a:avLst/>
          </a:prstGeom>
          <a:solidFill>
            <a:srgbClr val="1A53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143000"/>
            <a:ext cx="4114800" cy="3017520"/>
          </a:xfrm>
          <a:prstGeom prst="rect">
            <a:avLst/>
          </a:prstGeom>
          <a:solidFill>
            <a:srgbClr val="2E4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617720" y="1051560"/>
            <a:ext cx="45720" cy="5486400"/>
          </a:xfrm>
          <a:prstGeom prst="rect">
            <a:avLst/>
          </a:prstGeom>
          <a:solidFill>
            <a:srgbClr val="1A53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73152"/>
            <a:ext cx="11640312" cy="804672"/>
          </a:xfrm>
          <a:prstGeom prst="rect">
            <a:avLst/>
          </a:prstGeom>
          <a:noFill/>
        </p:spPr>
        <p:txBody>
          <a:bodyPr wrap="square">
            <a:spAutoFit/>
          </a:bodyPr>
          <a:lstStyle/>
          <a:p>
            <a:pPr algn="l"/>
            <a:r>
              <a:rPr b="1" i="0" sz="2600">
                <a:solidFill>
                  <a:srgbClr val="FFD700"/>
                </a:solidFill>
              </a:rPr>
              <a:t>Biochemistry – Cytochrome C Protein</a:t>
            </a:r>
          </a:p>
        </p:txBody>
      </p:sp>
      <p:sp>
        <p:nvSpPr>
          <p:cNvPr id="7" name="TextBox 6"/>
          <p:cNvSpPr txBox="1"/>
          <p:nvPr/>
        </p:nvSpPr>
        <p:spPr>
          <a:xfrm>
            <a:off x="320040" y="2331720"/>
            <a:ext cx="4023360" cy="548640"/>
          </a:xfrm>
          <a:prstGeom prst="rect">
            <a:avLst/>
          </a:prstGeom>
          <a:noFill/>
        </p:spPr>
        <p:txBody>
          <a:bodyPr wrap="square">
            <a:spAutoFit/>
          </a:bodyPr>
          <a:lstStyle/>
          <a:p>
            <a:pPr algn="ctr"/>
            <a:r>
              <a:rPr b="0" i="1" sz="1300">
                <a:solidFill>
                  <a:srgbClr val="CCE5FF"/>
                </a:solidFill>
              </a:rPr>
              <a:t>[ Image: Cytochrome C Protein ]</a:t>
            </a:r>
          </a:p>
        </p:txBody>
      </p:sp>
      <p:sp>
        <p:nvSpPr>
          <p:cNvPr id="8" name="TextBox 7"/>
          <p:cNvSpPr txBox="1"/>
          <p:nvPr/>
        </p:nvSpPr>
        <p:spPr>
          <a:xfrm>
            <a:off x="274320" y="4251960"/>
            <a:ext cx="4114800" cy="548640"/>
          </a:xfrm>
          <a:prstGeom prst="rect">
            <a:avLst/>
          </a:prstGeom>
          <a:noFill/>
        </p:spPr>
        <p:txBody>
          <a:bodyPr wrap="square">
            <a:spAutoFit/>
          </a:bodyPr>
          <a:lstStyle/>
          <a:p>
            <a:pPr algn="l"/>
            <a:r>
              <a:rPr b="0" i="1" sz="1000">
                <a:solidFill>
                  <a:srgbClr val="CCE5FF"/>
                </a:solidFill>
              </a:rPr>
              <a:t>Source: Britannica – Cytochrome (britannica.com)</a:t>
            </a:r>
          </a:p>
        </p:txBody>
      </p:sp>
      <p:sp>
        <p:nvSpPr>
          <p:cNvPr id="9" name="TextBox 8"/>
          <p:cNvSpPr txBox="1"/>
          <p:nvPr/>
        </p:nvSpPr>
        <p:spPr>
          <a:xfrm>
            <a:off x="4846320" y="1097280"/>
            <a:ext cx="7040880" cy="365760"/>
          </a:xfrm>
          <a:prstGeom prst="rect">
            <a:avLst/>
          </a:prstGeom>
          <a:noFill/>
        </p:spPr>
        <p:txBody>
          <a:bodyPr wrap="square">
            <a:spAutoFit/>
          </a:bodyPr>
          <a:lstStyle/>
          <a:p>
            <a:pPr algn="l"/>
            <a:r>
              <a:rPr b="1" i="0" sz="1500">
                <a:solidFill>
                  <a:srgbClr val="FFD700"/>
                </a:solidFill>
              </a:rPr>
              <a:t>Description</a:t>
            </a:r>
          </a:p>
        </p:txBody>
      </p:sp>
      <p:sp>
        <p:nvSpPr>
          <p:cNvPr id="10" name="TextBox 9"/>
          <p:cNvSpPr txBox="1"/>
          <p:nvPr/>
        </p:nvSpPr>
        <p:spPr>
          <a:xfrm>
            <a:off x="4846320" y="1463040"/>
            <a:ext cx="7040880" cy="1371600"/>
          </a:xfrm>
          <a:prstGeom prst="rect">
            <a:avLst/>
          </a:prstGeom>
          <a:noFill/>
        </p:spPr>
        <p:txBody>
          <a:bodyPr wrap="square">
            <a:spAutoFit/>
          </a:bodyPr>
          <a:lstStyle/>
          <a:p>
            <a:pPr algn="l">
              <a:spcBef>
                <a:spcPts val="200"/>
              </a:spcBef>
            </a:pPr>
            <a:r>
              <a:rPr sz="1300" b="0">
                <a:solidFill>
                  <a:srgbClr val="FFFFFF"/>
                </a:solidFill>
              </a:rPr>
              <a:t>• Cytochrome c is a protein used in energy production found in almost all living things</a:t>
            </a:r>
          </a:p>
          <a:p>
            <a:pPr algn="l">
              <a:spcBef>
                <a:spcPts val="200"/>
              </a:spcBef>
            </a:pPr>
            <a:r>
              <a:rPr sz="1300" b="0">
                <a:solidFill>
                  <a:srgbClr val="FFFFFF"/>
                </a:solidFill>
              </a:rPr>
              <a:t>• The version in humans is nearly identical to that in other mammals</a:t>
            </a:r>
          </a:p>
          <a:p>
            <a:pPr algn="l">
              <a:spcBef>
                <a:spcPts val="200"/>
              </a:spcBef>
            </a:pPr>
            <a:r>
              <a:rPr sz="1300" b="0">
                <a:solidFill>
                  <a:srgbClr val="FFFFFF"/>
                </a:solidFill>
              </a:rPr>
              <a:t>• More distantly related animals (like yeast) have a more different version</a:t>
            </a:r>
          </a:p>
        </p:txBody>
      </p:sp>
      <p:sp>
        <p:nvSpPr>
          <p:cNvPr id="11" name="TextBox 10"/>
          <p:cNvSpPr txBox="1"/>
          <p:nvPr/>
        </p:nvSpPr>
        <p:spPr>
          <a:xfrm>
            <a:off x="4846320" y="2971800"/>
            <a:ext cx="7040880" cy="365760"/>
          </a:xfrm>
          <a:prstGeom prst="rect">
            <a:avLst/>
          </a:prstGeom>
          <a:noFill/>
        </p:spPr>
        <p:txBody>
          <a:bodyPr wrap="square">
            <a:spAutoFit/>
          </a:bodyPr>
          <a:lstStyle/>
          <a:p>
            <a:pPr algn="l"/>
            <a:r>
              <a:rPr b="1" i="0" sz="1500">
                <a:solidFill>
                  <a:srgbClr val="FFD700"/>
                </a:solidFill>
              </a:rPr>
              <a:t>How does this support evolution?</a:t>
            </a:r>
          </a:p>
        </p:txBody>
      </p:sp>
      <p:sp>
        <p:nvSpPr>
          <p:cNvPr id="12" name="TextBox 11"/>
          <p:cNvSpPr txBox="1"/>
          <p:nvPr/>
        </p:nvSpPr>
        <p:spPr>
          <a:xfrm>
            <a:off x="4846320" y="3337560"/>
            <a:ext cx="7040880" cy="2011680"/>
          </a:xfrm>
          <a:prstGeom prst="rect">
            <a:avLst/>
          </a:prstGeom>
          <a:noFill/>
        </p:spPr>
        <p:txBody>
          <a:bodyPr wrap="square">
            <a:spAutoFit/>
          </a:bodyPr>
          <a:lstStyle/>
          <a:p>
            <a:pPr algn="l"/>
            <a:r>
              <a:rPr b="0" i="0" sz="1300">
                <a:solidFill>
                  <a:srgbClr val="CCE5FF"/>
                </a:solidFill>
              </a:rPr>
              <a:t>Because the same protein is found — with only small changes — across a huge range of life, it shows that all these organisms evolved from a common ancestor a very long time ago. The more changes, the longer ago species split apart.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960120"/>
          </a:xfrm>
          <a:prstGeom prst="rect">
            <a:avLst/>
          </a:prstGeom>
          <a:solidFill>
            <a:srgbClr val="1A53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74320" y="1143000"/>
            <a:ext cx="4114800" cy="3017520"/>
          </a:xfrm>
          <a:prstGeom prst="rect">
            <a:avLst/>
          </a:prstGeom>
          <a:solidFill>
            <a:srgbClr val="2E4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617720" y="1051560"/>
            <a:ext cx="45720" cy="5486400"/>
          </a:xfrm>
          <a:prstGeom prst="rect">
            <a:avLst/>
          </a:prstGeom>
          <a:solidFill>
            <a:srgbClr val="1A53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73152"/>
            <a:ext cx="11640312" cy="804672"/>
          </a:xfrm>
          <a:prstGeom prst="rect">
            <a:avLst/>
          </a:prstGeom>
          <a:noFill/>
        </p:spPr>
        <p:txBody>
          <a:bodyPr wrap="square">
            <a:spAutoFit/>
          </a:bodyPr>
          <a:lstStyle/>
          <a:p>
            <a:pPr algn="l"/>
            <a:r>
              <a:rPr b="1" i="0" sz="2600">
                <a:solidFill>
                  <a:srgbClr val="FFD700"/>
                </a:solidFill>
              </a:rPr>
              <a:t>Biochemistry – Universal Genetic Code</a:t>
            </a:r>
          </a:p>
        </p:txBody>
      </p:sp>
      <p:sp>
        <p:nvSpPr>
          <p:cNvPr id="7" name="TextBox 6"/>
          <p:cNvSpPr txBox="1"/>
          <p:nvPr/>
        </p:nvSpPr>
        <p:spPr>
          <a:xfrm>
            <a:off x="320040" y="2331720"/>
            <a:ext cx="4023360" cy="548640"/>
          </a:xfrm>
          <a:prstGeom prst="rect">
            <a:avLst/>
          </a:prstGeom>
          <a:noFill/>
        </p:spPr>
        <p:txBody>
          <a:bodyPr wrap="square">
            <a:spAutoFit/>
          </a:bodyPr>
          <a:lstStyle/>
          <a:p>
            <a:pPr algn="ctr"/>
            <a:r>
              <a:rPr b="0" i="1" sz="1300">
                <a:solidFill>
                  <a:srgbClr val="CCE5FF"/>
                </a:solidFill>
              </a:rPr>
              <a:t>[ Image: Universal Genetic Code ]</a:t>
            </a:r>
          </a:p>
        </p:txBody>
      </p:sp>
      <p:sp>
        <p:nvSpPr>
          <p:cNvPr id="8" name="TextBox 7"/>
          <p:cNvSpPr txBox="1"/>
          <p:nvPr/>
        </p:nvSpPr>
        <p:spPr>
          <a:xfrm>
            <a:off x="274320" y="4251960"/>
            <a:ext cx="4114800" cy="548640"/>
          </a:xfrm>
          <a:prstGeom prst="rect">
            <a:avLst/>
          </a:prstGeom>
          <a:noFill/>
        </p:spPr>
        <p:txBody>
          <a:bodyPr wrap="square">
            <a:spAutoFit/>
          </a:bodyPr>
          <a:lstStyle/>
          <a:p>
            <a:pPr algn="l"/>
            <a:r>
              <a:rPr b="0" i="1" sz="1000">
                <a:solidFill>
                  <a:srgbClr val="CCE5FF"/>
                </a:solidFill>
              </a:rPr>
              <a:t>Source: Khan Academy – Universal Genetic Code (khanacademy.org)</a:t>
            </a:r>
          </a:p>
        </p:txBody>
      </p:sp>
      <p:sp>
        <p:nvSpPr>
          <p:cNvPr id="9" name="TextBox 8"/>
          <p:cNvSpPr txBox="1"/>
          <p:nvPr/>
        </p:nvSpPr>
        <p:spPr>
          <a:xfrm>
            <a:off x="4846320" y="1097280"/>
            <a:ext cx="7040880" cy="365760"/>
          </a:xfrm>
          <a:prstGeom prst="rect">
            <a:avLst/>
          </a:prstGeom>
          <a:noFill/>
        </p:spPr>
        <p:txBody>
          <a:bodyPr wrap="square">
            <a:spAutoFit/>
          </a:bodyPr>
          <a:lstStyle/>
          <a:p>
            <a:pPr algn="l"/>
            <a:r>
              <a:rPr b="1" i="0" sz="1500">
                <a:solidFill>
                  <a:srgbClr val="FFD700"/>
                </a:solidFill>
              </a:rPr>
              <a:t>Description</a:t>
            </a:r>
          </a:p>
        </p:txBody>
      </p:sp>
      <p:sp>
        <p:nvSpPr>
          <p:cNvPr id="10" name="TextBox 9"/>
          <p:cNvSpPr txBox="1"/>
          <p:nvPr/>
        </p:nvSpPr>
        <p:spPr>
          <a:xfrm>
            <a:off x="4846320" y="1463040"/>
            <a:ext cx="7040880" cy="1371600"/>
          </a:xfrm>
          <a:prstGeom prst="rect">
            <a:avLst/>
          </a:prstGeom>
          <a:noFill/>
        </p:spPr>
        <p:txBody>
          <a:bodyPr wrap="square">
            <a:spAutoFit/>
          </a:bodyPr>
          <a:lstStyle/>
          <a:p>
            <a:pPr algn="l">
              <a:spcBef>
                <a:spcPts val="200"/>
              </a:spcBef>
            </a:pPr>
            <a:r>
              <a:rPr sz="1300" b="0">
                <a:solidFill>
                  <a:srgbClr val="FFFFFF"/>
                </a:solidFill>
              </a:rPr>
              <a:t>• All living things on Earth use the same basic DNA code (A, T, G, C bases)</a:t>
            </a:r>
          </a:p>
          <a:p>
            <a:pPr algn="l">
              <a:spcBef>
                <a:spcPts val="200"/>
              </a:spcBef>
            </a:pPr>
            <a:r>
              <a:rPr sz="1300" b="0">
                <a:solidFill>
                  <a:srgbClr val="FFFFFF"/>
                </a:solidFill>
              </a:rPr>
              <a:t>• The same three-base 'words' (codons) code for the same amino acids in all organisms</a:t>
            </a:r>
          </a:p>
          <a:p>
            <a:pPr algn="l">
              <a:spcBef>
                <a:spcPts val="200"/>
              </a:spcBef>
            </a:pPr>
            <a:r>
              <a:rPr sz="1300" b="0">
                <a:solidFill>
                  <a:srgbClr val="FFFFFF"/>
                </a:solidFill>
              </a:rPr>
              <a:t>• This includes bacteria, plants, fungi, and animals</a:t>
            </a:r>
          </a:p>
        </p:txBody>
      </p:sp>
      <p:sp>
        <p:nvSpPr>
          <p:cNvPr id="11" name="TextBox 10"/>
          <p:cNvSpPr txBox="1"/>
          <p:nvPr/>
        </p:nvSpPr>
        <p:spPr>
          <a:xfrm>
            <a:off x="4846320" y="2971800"/>
            <a:ext cx="7040880" cy="365760"/>
          </a:xfrm>
          <a:prstGeom prst="rect">
            <a:avLst/>
          </a:prstGeom>
          <a:noFill/>
        </p:spPr>
        <p:txBody>
          <a:bodyPr wrap="square">
            <a:spAutoFit/>
          </a:bodyPr>
          <a:lstStyle/>
          <a:p>
            <a:pPr algn="l"/>
            <a:r>
              <a:rPr b="1" i="0" sz="1500">
                <a:solidFill>
                  <a:srgbClr val="FFD700"/>
                </a:solidFill>
              </a:rPr>
              <a:t>How does this support evolution?</a:t>
            </a:r>
          </a:p>
        </p:txBody>
      </p:sp>
      <p:sp>
        <p:nvSpPr>
          <p:cNvPr id="12" name="TextBox 11"/>
          <p:cNvSpPr txBox="1"/>
          <p:nvPr/>
        </p:nvSpPr>
        <p:spPr>
          <a:xfrm>
            <a:off x="4846320" y="3337560"/>
            <a:ext cx="7040880" cy="2011680"/>
          </a:xfrm>
          <a:prstGeom prst="rect">
            <a:avLst/>
          </a:prstGeom>
          <a:noFill/>
        </p:spPr>
        <p:txBody>
          <a:bodyPr wrap="square">
            <a:spAutoFit/>
          </a:bodyPr>
          <a:lstStyle/>
          <a:p>
            <a:pPr algn="l"/>
            <a:r>
              <a:rPr b="0" i="0" sz="1300">
                <a:solidFill>
                  <a:srgbClr val="CCE5FF"/>
                </a:solidFill>
              </a:rPr>
              <a:t>The fact that all living things share the same genetic language is very strong evidence that life on Earth has one common origin. Evolution built on this original code, leading to the variety of life we see today.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560320"/>
            <a:ext cx="12188952" cy="1828800"/>
          </a:xfrm>
          <a:prstGeom prst="rect">
            <a:avLst/>
          </a:prstGeom>
          <a:solidFill>
            <a:srgbClr val="0F3A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743200"/>
            <a:ext cx="11274552" cy="822960"/>
          </a:xfrm>
          <a:prstGeom prst="rect">
            <a:avLst/>
          </a:prstGeom>
          <a:noFill/>
        </p:spPr>
        <p:txBody>
          <a:bodyPr wrap="square">
            <a:spAutoFit/>
          </a:bodyPr>
          <a:lstStyle/>
          <a:p>
            <a:pPr algn="ctr"/>
            <a:r>
              <a:rPr b="1" i="0" sz="4000">
                <a:solidFill>
                  <a:srgbClr val="FFD700"/>
                </a:solidFill>
              </a:rPr>
              <a:t>Summary</a:t>
            </a:r>
          </a:p>
        </p:txBody>
      </p:sp>
      <p:sp>
        <p:nvSpPr>
          <p:cNvPr id="5" name="TextBox 4"/>
          <p:cNvSpPr txBox="1"/>
          <p:nvPr/>
        </p:nvSpPr>
        <p:spPr>
          <a:xfrm>
            <a:off x="1828800" y="3703320"/>
            <a:ext cx="8531352" cy="2560320"/>
          </a:xfrm>
          <a:prstGeom prst="rect">
            <a:avLst/>
          </a:prstGeom>
          <a:noFill/>
        </p:spPr>
        <p:txBody>
          <a:bodyPr wrap="square">
            <a:spAutoFit/>
          </a:bodyPr>
          <a:lstStyle/>
          <a:p>
            <a:pPr algn="l">
              <a:spcBef>
                <a:spcPts val="200"/>
              </a:spcBef>
            </a:pPr>
            <a:r>
              <a:rPr sz="1600" b="0">
                <a:solidFill>
                  <a:srgbClr val="FFFFFF"/>
                </a:solidFill>
              </a:rPr>
              <a:t>• Paleontology – Fossil records show change over time</a:t>
            </a:r>
          </a:p>
          <a:p>
            <a:pPr algn="l">
              <a:spcBef>
                <a:spcPts val="200"/>
              </a:spcBef>
            </a:pPr>
            <a:r>
              <a:rPr sz="1600" b="0">
                <a:solidFill>
                  <a:srgbClr val="FFFFFF"/>
                </a:solidFill>
              </a:rPr>
              <a:t>• Biogeography – Where species live reveals shared history</a:t>
            </a:r>
          </a:p>
          <a:p>
            <a:pPr algn="l">
              <a:spcBef>
                <a:spcPts val="200"/>
              </a:spcBef>
            </a:pPr>
            <a:r>
              <a:rPr sz="1600" b="0">
                <a:solidFill>
                  <a:srgbClr val="FFFFFF"/>
                </a:solidFill>
              </a:rPr>
              <a:t>• Embryology – Embryo similarities show common ancestry</a:t>
            </a:r>
          </a:p>
          <a:p>
            <a:pPr algn="l">
              <a:spcBef>
                <a:spcPts val="200"/>
              </a:spcBef>
            </a:pPr>
            <a:r>
              <a:rPr sz="1600" b="0">
                <a:solidFill>
                  <a:srgbClr val="FFFFFF"/>
                </a:solidFill>
              </a:rPr>
              <a:t>• Anatomy – Body structure comparisons link species</a:t>
            </a:r>
          </a:p>
          <a:p>
            <a:pPr algn="l">
              <a:spcBef>
                <a:spcPts val="200"/>
              </a:spcBef>
            </a:pPr>
            <a:r>
              <a:rPr sz="1600" b="0">
                <a:solidFill>
                  <a:srgbClr val="FFFFFF"/>
                </a:solidFill>
              </a:rPr>
              <a:t>• Biochemistry – DNA and proteins connect all life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