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7E"/>
        </a:solidFill>
      </p:bgPr>
    </p:bg>
    <p:spTree>
      <p:nvGrpSpPr>
        <p:cNvPr id="1" name=""/>
        <p:cNvGrpSpPr/>
        <p:nvPr/>
      </p:nvGrpSpPr>
      <p:grpSpPr>
        <a:xfrm>
          <a:off x="0" y="0"/>
          <a:ext cx="0" cy="0"/>
          <a:chOff x="0" y="0"/>
          <a:chExt cx="0" cy="0"/>
        </a:xfrm>
      </p:grpSpPr>
      <p:sp>
        <p:nvSpPr>
          <p:cNvPr id="2" name="Text 0"/>
          <p:cNvSpPr/>
          <p:nvPr/>
        </p:nvSpPr>
        <p:spPr>
          <a:xfrm>
            <a:off x="731520" y="1828800"/>
            <a:ext cx="10698480" cy="1371600"/>
          </a:xfrm>
          <a:prstGeom prst="rect">
            <a:avLst/>
          </a:prstGeom>
          <a:noFill/>
          <a:ln/>
        </p:spPr>
        <p:txBody>
          <a:bodyPr wrap="square"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Evidence of Evolution</a:t>
            </a:r>
            <a:endParaRPr lang="en-US" sz="4400" dirty="0"/>
          </a:p>
        </p:txBody>
      </p:sp>
      <p:sp>
        <p:nvSpPr>
          <p:cNvPr id="3" name="Text 1"/>
          <p:cNvSpPr/>
          <p:nvPr/>
        </p:nvSpPr>
        <p:spPr>
          <a:xfrm>
            <a:off x="1371600" y="3291840"/>
            <a:ext cx="9418320" cy="731520"/>
          </a:xfrm>
          <a:prstGeom prst="rect">
            <a:avLst/>
          </a:prstGeom>
          <a:noFill/>
          <a:ln/>
        </p:spPr>
        <p:txBody>
          <a:bodyPr wrap="square" rtlCol="0" anchor="ctr"/>
          <a:lstStyle/>
          <a:p>
            <a:pPr algn="ctr" indent="0" marL="0">
              <a:buNone/>
            </a:pPr>
            <a:r>
              <a:rPr lang="en-US" sz="1600" dirty="0">
                <a:solidFill>
                  <a:srgbClr val="B0BEC5"/>
                </a:solidFill>
                <a:latin typeface="Arial" pitchFamily="34" charset="0"/>
                <a:ea typeface="Arial" pitchFamily="34" charset="-122"/>
                <a:cs typeface="Arial" pitchFamily="34" charset="-120"/>
              </a:rPr>
              <a:t>A Look at 5 Types of Scientific Evidence</a:t>
            </a:r>
            <a:endParaRPr lang="en-US" sz="1600" dirty="0"/>
          </a:p>
          <a:p>
            <a:pPr algn="ctr" indent="0" marL="0">
              <a:buNone/>
            </a:pPr>
            <a:r>
              <a:rPr lang="en-US" sz="1600" dirty="0">
                <a:solidFill>
                  <a:srgbClr val="B0BEC5"/>
                </a:solidFill>
                <a:latin typeface="Arial" pitchFamily="34" charset="0"/>
                <a:ea typeface="Arial" pitchFamily="34" charset="-122"/>
                <a:cs typeface="Arial" pitchFamily="34" charset="-120"/>
              </a:rPr>
              <a:t>Paleontology  ·  Biogeography  ·  Embryology  ·  Anatomy  ·  Biochemistry</a:t>
            </a:r>
            <a:endParaRPr lang="en-US" sz="1600" dirty="0"/>
          </a:p>
        </p:txBody>
      </p:sp>
      <p:sp>
        <p:nvSpPr>
          <p:cNvPr id="4" name="Shape 2"/>
          <p:cNvSpPr/>
          <p:nvPr/>
        </p:nvSpPr>
        <p:spPr>
          <a:xfrm>
            <a:off x="4114800" y="3063240"/>
            <a:ext cx="3931920" cy="36576"/>
          </a:xfrm>
          <a:prstGeom prst="rect">
            <a:avLst/>
          </a:prstGeom>
          <a:solidFill>
            <a:srgbClr val="4285F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37E"/>
        </a:solidFill>
      </p:bgPr>
    </p:bg>
    <p:spTree>
      <p:nvGrpSpPr>
        <p:cNvPr id="1" name=""/>
        <p:cNvGrpSpPr/>
        <p:nvPr/>
      </p:nvGrpSpPr>
      <p:grpSpPr>
        <a:xfrm>
          <a:off x="0" y="0"/>
          <a:ext cx="0" cy="0"/>
          <a:chOff x="0" y="0"/>
          <a:chExt cx="0" cy="0"/>
        </a:xfrm>
      </p:grpSpPr>
      <p:sp>
        <p:nvSpPr>
          <p:cNvPr id="2" name="Text 0"/>
          <p:cNvSpPr/>
          <p:nvPr/>
        </p:nvSpPr>
        <p:spPr>
          <a:xfrm>
            <a:off x="914400" y="1645920"/>
            <a:ext cx="10332720" cy="109728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Paleontology</a:t>
            </a:r>
            <a:endParaRPr lang="en-US" sz="4000" dirty="0"/>
          </a:p>
        </p:txBody>
      </p:sp>
      <p:sp>
        <p:nvSpPr>
          <p:cNvPr id="3" name="Shape 1"/>
          <p:cNvSpPr/>
          <p:nvPr/>
        </p:nvSpPr>
        <p:spPr>
          <a:xfrm>
            <a:off x="4572000" y="2834640"/>
            <a:ext cx="3017520" cy="36576"/>
          </a:xfrm>
          <a:prstGeom prst="rect">
            <a:avLst/>
          </a:prstGeom>
          <a:solidFill>
            <a:srgbClr val="4285F4"/>
          </a:solidFill>
          <a:ln/>
        </p:spPr>
      </p:sp>
      <p:sp>
        <p:nvSpPr>
          <p:cNvPr id="4" name="Text 2"/>
          <p:cNvSpPr/>
          <p:nvPr/>
        </p:nvSpPr>
        <p:spPr>
          <a:xfrm>
            <a:off x="1371600" y="3108960"/>
            <a:ext cx="9418320" cy="1097280"/>
          </a:xfrm>
          <a:prstGeom prst="rect">
            <a:avLst/>
          </a:prstGeom>
          <a:noFill/>
          <a:ln/>
        </p:spPr>
        <p:txBody>
          <a:bodyPr wrap="square" rtlCol="0" anchor="ctr"/>
          <a:lstStyle/>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Paleontology is basically the study of fossils — the preserved remains of ancient life.</a:t>
            </a:r>
            <a:endParaRPr lang="en-US" sz="1500" dirty="0"/>
          </a:p>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Fossils shows how living things changed over millions of years.</a:t>
            </a:r>
            <a:endParaRPr lang="en-US" sz="1500" dirty="0"/>
          </a:p>
        </p:txBody>
      </p:sp>
      <p:sp>
        <p:nvSpPr>
          <p:cNvPr id="5" name="Text 3"/>
          <p:cNvSpPr/>
          <p:nvPr/>
        </p:nvSpPr>
        <p:spPr>
          <a:xfrm>
            <a:off x="1371600" y="4572000"/>
            <a:ext cx="9418320" cy="640080"/>
          </a:xfrm>
          <a:prstGeom prst="rect">
            <a:avLst/>
          </a:prstGeom>
          <a:noFill/>
          <a:ln/>
        </p:spPr>
        <p:txBody>
          <a:bodyPr wrap="square" rtlCol="0" anchor="ctr"/>
          <a:lstStyle/>
          <a:p>
            <a:pPr algn="ctr" indent="0" marL="0">
              <a:buNone/>
            </a:pPr>
            <a:r>
              <a:rPr lang="en-US" sz="1300" i="1" dirty="0">
                <a:solidFill>
                  <a:srgbClr val="90CAF9"/>
                </a:solidFill>
                <a:latin typeface="Arial" pitchFamily="34" charset="0"/>
                <a:ea typeface="Arial" pitchFamily="34" charset="-122"/>
                <a:cs typeface="Arial" pitchFamily="34" charset="-120"/>
              </a:rPr>
              <a:t>Examples:  Archaeopteryx  ·  Tiktaalik  ·  Ambulocetus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Paleontology – Archaeopteryx</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archaeopteryx.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Britannica – Archaeopteryx (britannica.com)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Lived about 150 million years ago</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Had feathers AND bone wings like a bird, but also had teeth and clawed fingers like a dinosaur</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Found in limestone rocks in Germany</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Archaeopteryx shows features of both dinosaurs and modern birds in the same animal. This supports evolution because its a 'transition fossil' — basically evidence that birds slowly evolved from small feathered dinosaurs over a really long time.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Paleontology – Tiktaalik</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tiktaalik.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National Geographic – Tiktaalik (nationalgeographic.com)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Lived about 375 million years ago in shallow water</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Had fins, but the fins had bones that looked like an arm and wrist</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Also had a flat head and a neck — features fish dont have</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Tiktaalik basically shows a step between fish that swim and land animals that walk. Its fin-arms support the idea that land animals evolved from fish that slowly developed limbs.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Paleontology – Ambulocetus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ambulocetus.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Khan Academy – Evidence of Evolution (khanacademy.org)</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Lived about 48 million years ago</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Had four legs but could also swim by moving its spine up and down</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Related to early ancestors of modern whales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Ambulocetus is a 'walking whale' fossil that shows whales once lived on land. This supports evolution by showing that todays ocean-living whales came from four-legged land animals over millions of years.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237E"/>
        </a:solidFill>
      </p:bgPr>
    </p:bg>
    <p:spTree>
      <p:nvGrpSpPr>
        <p:cNvPr id="1" name=""/>
        <p:cNvGrpSpPr/>
        <p:nvPr/>
      </p:nvGrpSpPr>
      <p:grpSpPr>
        <a:xfrm>
          <a:off x="0" y="0"/>
          <a:ext cx="0" cy="0"/>
          <a:chOff x="0" y="0"/>
          <a:chExt cx="0" cy="0"/>
        </a:xfrm>
      </p:grpSpPr>
      <p:sp>
        <p:nvSpPr>
          <p:cNvPr id="2" name="Text 0"/>
          <p:cNvSpPr/>
          <p:nvPr/>
        </p:nvSpPr>
        <p:spPr>
          <a:xfrm>
            <a:off x="914400" y="1645920"/>
            <a:ext cx="10332720" cy="109728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Biogeography</a:t>
            </a:r>
            <a:endParaRPr lang="en-US" sz="4000" dirty="0"/>
          </a:p>
        </p:txBody>
      </p:sp>
      <p:sp>
        <p:nvSpPr>
          <p:cNvPr id="3" name="Shape 1"/>
          <p:cNvSpPr/>
          <p:nvPr/>
        </p:nvSpPr>
        <p:spPr>
          <a:xfrm>
            <a:off x="4572000" y="2834640"/>
            <a:ext cx="3017520" cy="36576"/>
          </a:xfrm>
          <a:prstGeom prst="rect">
            <a:avLst/>
          </a:prstGeom>
          <a:solidFill>
            <a:srgbClr val="4285F4"/>
          </a:solidFill>
          <a:ln/>
        </p:spPr>
      </p:sp>
      <p:sp>
        <p:nvSpPr>
          <p:cNvPr id="4" name="Text 2"/>
          <p:cNvSpPr/>
          <p:nvPr/>
        </p:nvSpPr>
        <p:spPr>
          <a:xfrm>
            <a:off x="1371600" y="3108960"/>
            <a:ext cx="9418320" cy="1097280"/>
          </a:xfrm>
          <a:prstGeom prst="rect">
            <a:avLst/>
          </a:prstGeom>
          <a:noFill/>
          <a:ln/>
        </p:spPr>
        <p:txBody>
          <a:bodyPr wrap="square" rtlCol="0" anchor="ctr"/>
          <a:lstStyle/>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Biogeography studies where animals and plants live around the world.</a:t>
            </a:r>
            <a:endParaRPr lang="en-US" sz="1500" dirty="0"/>
          </a:p>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The pattern of where species are found helps show how they evolved in different places.</a:t>
            </a:r>
            <a:endParaRPr lang="en-US" sz="1500" dirty="0"/>
          </a:p>
        </p:txBody>
      </p:sp>
      <p:sp>
        <p:nvSpPr>
          <p:cNvPr id="5" name="Text 3"/>
          <p:cNvSpPr/>
          <p:nvPr/>
        </p:nvSpPr>
        <p:spPr>
          <a:xfrm>
            <a:off x="1371600" y="4572000"/>
            <a:ext cx="9418320" cy="640080"/>
          </a:xfrm>
          <a:prstGeom prst="rect">
            <a:avLst/>
          </a:prstGeom>
          <a:noFill/>
          <a:ln/>
        </p:spPr>
        <p:txBody>
          <a:bodyPr wrap="square" rtlCol="0" anchor="ctr"/>
          <a:lstStyle/>
          <a:p>
            <a:pPr algn="ctr" indent="0" marL="0">
              <a:buNone/>
            </a:pPr>
            <a:r>
              <a:rPr lang="en-US" sz="1300" i="1" dirty="0">
                <a:solidFill>
                  <a:srgbClr val="90CAF9"/>
                </a:solidFill>
                <a:latin typeface="Arial" pitchFamily="34" charset="0"/>
                <a:ea typeface="Arial" pitchFamily="34" charset="-122"/>
                <a:cs typeface="Arial" pitchFamily="34" charset="-120"/>
              </a:rPr>
              <a:t>Examples:  Darwin's Finches  ·  Marsupials in Australia  ·  Cichlid Fish in African Lakes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Biogeography – Darwin's Finches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finches.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Khan Academy – Darwin's Finches (khanacademy.org)</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Found on the Galápagos Islands in the Pacific Ocean</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14 different species of finch, each with a different beak shape</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Each beak shape is matched to the food on that island (seeds, insects, cactus)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All 14 finch species came from a single finch ancestor that arrived on the islands a long time ago. Over time, different groups changed to fit their local food source — this is a really clear example of evolution through natural selection.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Biogeography – Marsupials in Australia</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kangaroo.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Britannica – Marsupial (britannica.com)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Marsupials (like kangaroos and koalas) are mostly found in Australia</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Australia separated from other continents about 45 million years ago</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Marsupials evolved on their own, isolated from placental mammals elsewhere</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Because Australia was cut off from the rest of the world its animals evolved separately. The huge variety of marsupials found only there supports the idea that isolation leads to unique evolutionary paths.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Biogeography – Cichlid Fish in African Lakes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cichlid.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National Geographic – Cichlid Evolution (nationalgeographic.com)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Over 500 species of cichlid fish live in Africa's Great Lakes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Each species evolved to eat a different type of food in the lake</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All species came from just a few common ancestors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Cichlid fish are a great example of rapid evolution in one location. Because they were isolated in separate lakes, small groups evolved into hundreds of different species — each one shaped by it's environment.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37E"/>
        </a:solidFill>
      </p:bgPr>
    </p:bg>
    <p:spTree>
      <p:nvGrpSpPr>
        <p:cNvPr id="1" name=""/>
        <p:cNvGrpSpPr/>
        <p:nvPr/>
      </p:nvGrpSpPr>
      <p:grpSpPr>
        <a:xfrm>
          <a:off x="0" y="0"/>
          <a:ext cx="0" cy="0"/>
          <a:chOff x="0" y="0"/>
          <a:chExt cx="0" cy="0"/>
        </a:xfrm>
      </p:grpSpPr>
      <p:sp>
        <p:nvSpPr>
          <p:cNvPr id="2" name="Text 0"/>
          <p:cNvSpPr/>
          <p:nvPr/>
        </p:nvSpPr>
        <p:spPr>
          <a:xfrm>
            <a:off x="914400" y="1645920"/>
            <a:ext cx="10332720" cy="109728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Embryology</a:t>
            </a:r>
            <a:endParaRPr lang="en-US" sz="4000" dirty="0"/>
          </a:p>
        </p:txBody>
      </p:sp>
      <p:sp>
        <p:nvSpPr>
          <p:cNvPr id="3" name="Shape 1"/>
          <p:cNvSpPr/>
          <p:nvPr/>
        </p:nvSpPr>
        <p:spPr>
          <a:xfrm>
            <a:off x="4572000" y="2834640"/>
            <a:ext cx="3017520" cy="36576"/>
          </a:xfrm>
          <a:prstGeom prst="rect">
            <a:avLst/>
          </a:prstGeom>
          <a:solidFill>
            <a:srgbClr val="4285F4"/>
          </a:solidFill>
          <a:ln/>
        </p:spPr>
      </p:sp>
      <p:sp>
        <p:nvSpPr>
          <p:cNvPr id="4" name="Text 2"/>
          <p:cNvSpPr/>
          <p:nvPr/>
        </p:nvSpPr>
        <p:spPr>
          <a:xfrm>
            <a:off x="1371600" y="3108960"/>
            <a:ext cx="9418320" cy="1097280"/>
          </a:xfrm>
          <a:prstGeom prst="rect">
            <a:avLst/>
          </a:prstGeom>
          <a:noFill/>
          <a:ln/>
        </p:spPr>
        <p:txBody>
          <a:bodyPr wrap="square" rtlCol="0" anchor="ctr"/>
          <a:lstStyle/>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Embryology is the study of how embryos (early-stage babies) develop.</a:t>
            </a:r>
            <a:endParaRPr lang="en-US" sz="1500" dirty="0"/>
          </a:p>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Related animals often look really similar as embryos, showing their shared past.</a:t>
            </a:r>
            <a:endParaRPr lang="en-US" sz="1500" dirty="0"/>
          </a:p>
        </p:txBody>
      </p:sp>
      <p:sp>
        <p:nvSpPr>
          <p:cNvPr id="5" name="Text 3"/>
          <p:cNvSpPr/>
          <p:nvPr/>
        </p:nvSpPr>
        <p:spPr>
          <a:xfrm>
            <a:off x="1371600" y="4572000"/>
            <a:ext cx="9418320" cy="640080"/>
          </a:xfrm>
          <a:prstGeom prst="rect">
            <a:avLst/>
          </a:prstGeom>
          <a:noFill/>
          <a:ln/>
        </p:spPr>
        <p:txBody>
          <a:bodyPr wrap="square" rtlCol="0" anchor="ctr"/>
          <a:lstStyle/>
          <a:p>
            <a:pPr algn="ctr" indent="0" marL="0">
              <a:buNone/>
            </a:pPr>
            <a:r>
              <a:rPr lang="en-US" sz="1300" i="1" dirty="0">
                <a:solidFill>
                  <a:srgbClr val="90CAF9"/>
                </a:solidFill>
                <a:latin typeface="Arial" pitchFamily="34" charset="0"/>
                <a:ea typeface="Arial" pitchFamily="34" charset="-122"/>
                <a:cs typeface="Arial" pitchFamily="34" charset="-120"/>
              </a:rPr>
              <a:t>Examples:  Pharyngeal Pouches  ·  Tail in Human Embryos  ·  Limb Bud Development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Embryology – Pharyngeal Pouches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haeckel.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Khan Academy – Embryology and Evolution (khanacademy.org)</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Fish, frogs, chickens, pigs, and humans all have pharyngeal pouches as embryos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In fish, these pouches become gills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In humans, they become parts of the ear and throat</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The fact that very different animals all start with the same structures in their embryos shows that they share a common ancestor. Over time evolution shaped those same starting structures into different body parts.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Embryology – Tail in Human Embryos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humantail.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Britannica – Human Embryo Development (britannica.com)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Human embryos grow a small tail between weeks 4 and 8 of development</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tail is then absorbed back into the body before birth</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This tail structure matches the tails seen in other vertebrate embryos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The temporary tail in human embryos shows our connection to other animals that have tails. It is basically a sign left over from ancestors we shared with other mammals millions of years ago.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Embryology – Limb Bud Development</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limbbud.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NCBI / National Institutes of Health – Limb Development (ncbi.nlm.nih.gov)</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All vertebrate embryos (frogs, birds, mice, humans) grow limb buds in the same basic way</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same genes control limb growth in all these animals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limb buds develop into arms, wings, flippers, or legs depending on the species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Because the same genes and the same early stages are used to grow limbs in very different animals they must have came from a shared ancestor. Evolution changed how those limbs ended up — not how they started.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237E"/>
        </a:solidFill>
      </p:bgPr>
    </p:bg>
    <p:spTree>
      <p:nvGrpSpPr>
        <p:cNvPr id="1" name=""/>
        <p:cNvGrpSpPr/>
        <p:nvPr/>
      </p:nvGrpSpPr>
      <p:grpSpPr>
        <a:xfrm>
          <a:off x="0" y="0"/>
          <a:ext cx="0" cy="0"/>
          <a:chOff x="0" y="0"/>
          <a:chExt cx="0" cy="0"/>
        </a:xfrm>
      </p:grpSpPr>
      <p:sp>
        <p:nvSpPr>
          <p:cNvPr id="2" name="Text 0"/>
          <p:cNvSpPr/>
          <p:nvPr/>
        </p:nvSpPr>
        <p:spPr>
          <a:xfrm>
            <a:off x="914400" y="1645920"/>
            <a:ext cx="10332720" cy="109728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Anatomy</a:t>
            </a:r>
            <a:endParaRPr lang="en-US" sz="4000" dirty="0"/>
          </a:p>
        </p:txBody>
      </p:sp>
      <p:sp>
        <p:nvSpPr>
          <p:cNvPr id="3" name="Shape 1"/>
          <p:cNvSpPr/>
          <p:nvPr/>
        </p:nvSpPr>
        <p:spPr>
          <a:xfrm>
            <a:off x="4572000" y="2834640"/>
            <a:ext cx="3017520" cy="36576"/>
          </a:xfrm>
          <a:prstGeom prst="rect">
            <a:avLst/>
          </a:prstGeom>
          <a:solidFill>
            <a:srgbClr val="4285F4"/>
          </a:solidFill>
          <a:ln/>
        </p:spPr>
      </p:sp>
      <p:sp>
        <p:nvSpPr>
          <p:cNvPr id="4" name="Text 2"/>
          <p:cNvSpPr/>
          <p:nvPr/>
        </p:nvSpPr>
        <p:spPr>
          <a:xfrm>
            <a:off x="1371600" y="3108960"/>
            <a:ext cx="9418320" cy="1097280"/>
          </a:xfrm>
          <a:prstGeom prst="rect">
            <a:avLst/>
          </a:prstGeom>
          <a:noFill/>
          <a:ln/>
        </p:spPr>
        <p:txBody>
          <a:bodyPr wrap="square" rtlCol="0" anchor="ctr"/>
          <a:lstStyle/>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Anatomy is the study of body structures. Comparing body parts across different animals</a:t>
            </a:r>
            <a:endParaRPr lang="en-US" sz="1500" dirty="0"/>
          </a:p>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reveals shared ancestry and how species have changed over time.</a:t>
            </a:r>
            <a:endParaRPr lang="en-US" sz="1500" dirty="0"/>
          </a:p>
        </p:txBody>
      </p:sp>
      <p:sp>
        <p:nvSpPr>
          <p:cNvPr id="5" name="Text 3"/>
          <p:cNvSpPr/>
          <p:nvPr/>
        </p:nvSpPr>
        <p:spPr>
          <a:xfrm>
            <a:off x="1371600" y="4572000"/>
            <a:ext cx="9418320" cy="640080"/>
          </a:xfrm>
          <a:prstGeom prst="rect">
            <a:avLst/>
          </a:prstGeom>
          <a:noFill/>
          <a:ln/>
        </p:spPr>
        <p:txBody>
          <a:bodyPr wrap="square" rtlCol="0" anchor="ctr"/>
          <a:lstStyle/>
          <a:p>
            <a:pPr algn="ctr" indent="0" marL="0">
              <a:buNone/>
            </a:pPr>
            <a:r>
              <a:rPr lang="en-US" sz="1300" i="1" dirty="0">
                <a:solidFill>
                  <a:srgbClr val="90CAF9"/>
                </a:solidFill>
                <a:latin typeface="Arial" pitchFamily="34" charset="0"/>
                <a:ea typeface="Arial" pitchFamily="34" charset="-122"/>
                <a:cs typeface="Arial" pitchFamily="34" charset="-120"/>
              </a:rPr>
              <a:t>Examples:  Homologous Structures  ·  Vestigial Structures  ·  Analogous Structures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Anatomy – Homologous Structures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homologous.pn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Khan Academy – Homologous Structures (khanacademy.org)</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Humans, bats, whales, and cats all have the same set of arm/hand bones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bones are used for very different things — grabbing, flying, swimming, walking</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bones look different on the outside but have the same inner structure</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Having the same bones arranged in the same way shows these animals evolved from a common ancestor. Evolution changed the size and shape of those bones to fit each animals lifestyle.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Anatomy – Vestigial Structures – Human Tailbone</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coccyx.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Britannica – Vestigial Organ (britannica.com)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Humans have a small bone at the bottom of the spine called the coccyx (tailbone)</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It doesn't support a tail and has very little function in people</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Other primates and alot of mammals use a similar structure to support their tails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The tailbone is a vestigial structure — a leftover body part from an ancestor that actually used it. This supports evolution by showing that humans are related to animals that once had tails.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Anatomy – Analogous Structures – Wings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wings.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National Geographic – Convergent Evolution (nationalgeographic.com)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Birds and bats both have wings for flying, but their wings are built differently</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Bird wings have feathers; bat wings are made of stretched skin</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They evolved wings separately to solve the same problem: flight</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Analogous structures like bird and bat wings show that different animals can independently evolve similar solutions to the same challenge. This process — called convergent evolution — shows how natural selection shapes life in similar ways.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237E"/>
        </a:solidFill>
      </p:bgPr>
    </p:bg>
    <p:spTree>
      <p:nvGrpSpPr>
        <p:cNvPr id="1" name=""/>
        <p:cNvGrpSpPr/>
        <p:nvPr/>
      </p:nvGrpSpPr>
      <p:grpSpPr>
        <a:xfrm>
          <a:off x="0" y="0"/>
          <a:ext cx="0" cy="0"/>
          <a:chOff x="0" y="0"/>
          <a:chExt cx="0" cy="0"/>
        </a:xfrm>
      </p:grpSpPr>
      <p:sp>
        <p:nvSpPr>
          <p:cNvPr id="2" name="Text 0"/>
          <p:cNvSpPr/>
          <p:nvPr/>
        </p:nvSpPr>
        <p:spPr>
          <a:xfrm>
            <a:off x="914400" y="1645920"/>
            <a:ext cx="10332720" cy="109728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Biochemistry</a:t>
            </a:r>
            <a:endParaRPr lang="en-US" sz="4000" dirty="0"/>
          </a:p>
        </p:txBody>
      </p:sp>
      <p:sp>
        <p:nvSpPr>
          <p:cNvPr id="3" name="Shape 1"/>
          <p:cNvSpPr/>
          <p:nvPr/>
        </p:nvSpPr>
        <p:spPr>
          <a:xfrm>
            <a:off x="4572000" y="2834640"/>
            <a:ext cx="3017520" cy="36576"/>
          </a:xfrm>
          <a:prstGeom prst="rect">
            <a:avLst/>
          </a:prstGeom>
          <a:solidFill>
            <a:srgbClr val="4285F4"/>
          </a:solidFill>
          <a:ln/>
        </p:spPr>
      </p:sp>
      <p:sp>
        <p:nvSpPr>
          <p:cNvPr id="4" name="Text 2"/>
          <p:cNvSpPr/>
          <p:nvPr/>
        </p:nvSpPr>
        <p:spPr>
          <a:xfrm>
            <a:off x="1371600" y="3108960"/>
            <a:ext cx="9418320" cy="1097280"/>
          </a:xfrm>
          <a:prstGeom prst="rect">
            <a:avLst/>
          </a:prstGeom>
          <a:noFill/>
          <a:ln/>
        </p:spPr>
        <p:txBody>
          <a:bodyPr wrap="square" rtlCol="0" anchor="ctr"/>
          <a:lstStyle/>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Biochemistry compares the chemicals inside living things — like DNA and proteins.</a:t>
            </a:r>
            <a:endParaRPr lang="en-US" sz="1500" dirty="0"/>
          </a:p>
          <a:p>
            <a:pPr algn="ctr" indent="0" marL="0">
              <a:lnSpc>
                <a:spcPct val="130000"/>
              </a:lnSpc>
              <a:buNone/>
            </a:pPr>
            <a:r>
              <a:rPr lang="en-US" sz="1500" dirty="0">
                <a:solidFill>
                  <a:srgbClr val="B0BEC5"/>
                </a:solidFill>
                <a:latin typeface="Arial" pitchFamily="34" charset="0"/>
                <a:ea typeface="Arial" pitchFamily="34" charset="-122"/>
                <a:cs typeface="Arial" pitchFamily="34" charset="-120"/>
              </a:rPr>
              <a:t>The more similar two species' chemistry is, the more closely related they are.</a:t>
            </a:r>
            <a:endParaRPr lang="en-US" sz="1500" dirty="0"/>
          </a:p>
        </p:txBody>
      </p:sp>
      <p:sp>
        <p:nvSpPr>
          <p:cNvPr id="5" name="Text 3"/>
          <p:cNvSpPr/>
          <p:nvPr/>
        </p:nvSpPr>
        <p:spPr>
          <a:xfrm>
            <a:off x="1371600" y="4572000"/>
            <a:ext cx="9418320" cy="640080"/>
          </a:xfrm>
          <a:prstGeom prst="rect">
            <a:avLst/>
          </a:prstGeom>
          <a:noFill/>
          <a:ln/>
        </p:spPr>
        <p:txBody>
          <a:bodyPr wrap="square" rtlCol="0" anchor="ctr"/>
          <a:lstStyle/>
          <a:p>
            <a:pPr algn="ctr" indent="0" marL="0">
              <a:buNone/>
            </a:pPr>
            <a:r>
              <a:rPr lang="en-US" sz="1300" i="1" dirty="0">
                <a:solidFill>
                  <a:srgbClr val="90CAF9"/>
                </a:solidFill>
                <a:latin typeface="Arial" pitchFamily="34" charset="0"/>
                <a:ea typeface="Arial" pitchFamily="34" charset="-122"/>
                <a:cs typeface="Arial" pitchFamily="34" charset="-120"/>
              </a:rPr>
              <a:t>Examples:  DNA Similarity  ·  Cytochrome C Protein  ·  Universal Genetic Code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Biochemistry – DNA Similarity: Humans and Chimps</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chimp.jp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Khan Academy – Molecular Evidence for Evolution (khanacademy.org)</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Human DNA and chimpanzee DNA are about 98–99% identical</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differences in our DNA account for things like brain size and body shape</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closer two species' DNA, the more recently they shared a common ancestor</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The near-identical DNA between humans and chimps is really strong evidence that we share a recent common ancestor. Small changes in DNA over millions of years can lead to very different-looking animals.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Biochemistry – Cytochrome C Protein</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cytochrome.pn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Britannica – Cytochrome (britannica.com)</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Cytochrome c is a protein used in energy production found in almost all living things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version in humans is nearly identical to that in other mammals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More distantly related animals (like yeast) have a more different version</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Because the same protein is found — with only small changes — across a huge range of life, it shows that all these organisms evolved from a common ancestor a really long time ago. The more changes, the longer ago species split apart.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548640" y="274320"/>
            <a:ext cx="10972800" cy="640080"/>
          </a:xfrm>
          <a:prstGeom prst="rect">
            <a:avLst/>
          </a:prstGeom>
          <a:noFill/>
          <a:ln/>
        </p:spPr>
        <p:txBody>
          <a:bodyPr wrap="square" rtlCol="0" anchor="ctr"/>
          <a:lstStyle/>
          <a:p>
            <a:pPr indent="0" marL="0">
              <a:buNone/>
            </a:pPr>
            <a:r>
              <a:rPr lang="en-US" sz="2600" b="1" dirty="0">
                <a:solidFill>
                  <a:srgbClr val="1A237E"/>
                </a:solidFill>
                <a:latin typeface="Arial" pitchFamily="34" charset="0"/>
                <a:ea typeface="Arial" pitchFamily="34" charset="-122"/>
                <a:cs typeface="Arial" pitchFamily="34" charset="-120"/>
              </a:rPr>
              <a:t>Biochemistry – Universal Genetic Code</a:t>
            </a:r>
            <a:endParaRPr lang="en-US" sz="2600" dirty="0"/>
          </a:p>
        </p:txBody>
      </p:sp>
      <p:sp>
        <p:nvSpPr>
          <p:cNvPr id="4" name="Shape 2"/>
          <p:cNvSpPr/>
          <p:nvPr/>
        </p:nvSpPr>
        <p:spPr>
          <a:xfrm>
            <a:off x="548640" y="960120"/>
            <a:ext cx="5029200" cy="18288"/>
          </a:xfrm>
          <a:prstGeom prst="rect">
            <a:avLst/>
          </a:prstGeom>
          <a:solidFill>
            <a:srgbClr val="4285F4"/>
          </a:solidFill>
          <a:ln/>
        </p:spPr>
      </p:sp>
      <p:pic>
        <p:nvPicPr>
          <p:cNvPr id="5" name="Image 0" descr="/tmp/evolution-pptx/imgs/geneticcode.png">    </p:cNvPr>
          <p:cNvPicPr>
            <a:picLocks noChangeAspect="1"/>
          </p:cNvPicPr>
          <p:nvPr/>
        </p:nvPicPr>
        <p:blipFill>
          <a:blip r:embed="rId1"/>
          <a:stretch>
            <a:fillRect/>
          </a:stretch>
        </p:blipFill>
        <p:spPr>
          <a:xfrm>
            <a:off x="548640" y="1188720"/>
            <a:ext cx="4114800" cy="3108960"/>
          </a:xfrm>
          <a:prstGeom prst="ellipse">
            <a:avLst/>
          </a:prstGeom>
        </p:spPr>
      </p:pic>
      <p:sp>
        <p:nvSpPr>
          <p:cNvPr id="6" name="Text 3"/>
          <p:cNvSpPr/>
          <p:nvPr/>
        </p:nvSpPr>
        <p:spPr>
          <a:xfrm>
            <a:off x="548640" y="4389120"/>
            <a:ext cx="4114800" cy="365760"/>
          </a:xfrm>
          <a:prstGeom prst="rect">
            <a:avLst/>
          </a:prstGeom>
          <a:noFill/>
          <a:ln/>
        </p:spPr>
        <p:txBody>
          <a:bodyPr wrap="square" rtlCol="0" anchor="ctr"/>
          <a:lstStyle/>
          <a:p>
            <a:pPr indent="0" marL="0">
              <a:buNone/>
            </a:pPr>
            <a:r>
              <a:rPr lang="en-US" sz="800" i="1" dirty="0">
                <a:solidFill>
                  <a:srgbClr val="757575"/>
                </a:solidFill>
                <a:latin typeface="Arial" pitchFamily="34" charset="0"/>
                <a:ea typeface="Arial" pitchFamily="34" charset="-122"/>
                <a:cs typeface="Arial" pitchFamily="34" charset="-120"/>
              </a:rPr>
              <a:t>Source: Khan Academy – Universal Genetic Code (khanacademy.org)</a:t>
            </a:r>
            <a:endParaRPr lang="en-US" sz="800" dirty="0"/>
          </a:p>
        </p:txBody>
      </p:sp>
      <p:sp>
        <p:nvSpPr>
          <p:cNvPr id="7" name="Text 4"/>
          <p:cNvSpPr/>
          <p:nvPr/>
        </p:nvSpPr>
        <p:spPr>
          <a:xfrm>
            <a:off x="5029200" y="1188720"/>
            <a:ext cx="6583680" cy="457200"/>
          </a:xfrm>
          <a:prstGeom prst="rect">
            <a:avLst/>
          </a:prstGeom>
          <a:noFill/>
          <a:ln/>
        </p:spPr>
        <p:txBody>
          <a:bodyPr wrap="square" rtlCol="0" anchor="ctr"/>
          <a:lstStyle/>
          <a:p>
            <a:pPr indent="0" marL="0">
              <a:buNone/>
            </a:pPr>
            <a:r>
              <a:rPr lang="en-US" sz="1600" b="1" dirty="0">
                <a:solidFill>
                  <a:srgbClr val="1A237E"/>
                </a:solidFill>
                <a:latin typeface="Arial" pitchFamily="34" charset="0"/>
                <a:ea typeface="Arial" pitchFamily="34" charset="-122"/>
                <a:cs typeface="Arial" pitchFamily="34" charset="-120"/>
              </a:rPr>
              <a:t>Description</a:t>
            </a:r>
            <a:endParaRPr lang="en-US" sz="1600" dirty="0"/>
          </a:p>
        </p:txBody>
      </p:sp>
      <p:sp>
        <p:nvSpPr>
          <p:cNvPr id="8" name="Text 5"/>
          <p:cNvSpPr/>
          <p:nvPr/>
        </p:nvSpPr>
        <p:spPr>
          <a:xfrm>
            <a:off x="5029200" y="1691640"/>
            <a:ext cx="6583680" cy="2011680"/>
          </a:xfrm>
          <a:prstGeom prst="rect">
            <a:avLst/>
          </a:prstGeom>
          <a:noFill/>
          <a:ln/>
        </p:spPr>
        <p:txBody>
          <a:bodyPr wrap="square" rtlCol="0" anchor="t"/>
          <a:lstStyle/>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All living things on Earth use the same basic DNA code (A, T, G, C bases)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The same three-base 'words' (codons) code for the same amino acids in all organisms</a:t>
            </a:r>
            <a:endParaRPr lang="en-US" sz="1300" dirty="0"/>
          </a:p>
          <a:p>
            <a:pPr marL="342900" indent="-342900">
              <a:lnSpc>
                <a:spcPct val="140000"/>
              </a:lnSpc>
              <a:buSzPct val="100000"/>
              <a:buChar char="•"/>
            </a:pPr>
            <a:r>
              <a:rPr lang="en-US" sz="1300" dirty="0">
                <a:solidFill>
                  <a:srgbClr val="424242"/>
                </a:solidFill>
                <a:latin typeface="Arial" pitchFamily="34" charset="0"/>
                <a:ea typeface="Arial" pitchFamily="34" charset="-122"/>
                <a:cs typeface="Arial" pitchFamily="34" charset="-120"/>
              </a:rPr>
              <a:t>This includes bacteria, plants, fungi, and animals</a:t>
            </a:r>
            <a:endParaRPr lang="en-US" sz="1300" dirty="0"/>
          </a:p>
        </p:txBody>
      </p:sp>
      <p:sp>
        <p:nvSpPr>
          <p:cNvPr id="9" name="Text 6"/>
          <p:cNvSpPr/>
          <p:nvPr/>
        </p:nvSpPr>
        <p:spPr>
          <a:xfrm>
            <a:off x="5029200" y="3749040"/>
            <a:ext cx="6583680" cy="457200"/>
          </a:xfrm>
          <a:prstGeom prst="rect">
            <a:avLst/>
          </a:prstGeom>
          <a:noFill/>
          <a:ln/>
        </p:spPr>
        <p:txBody>
          <a:bodyPr wrap="square" rtlCol="0" anchor="ctr"/>
          <a:lstStyle/>
          <a:p>
            <a:pPr indent="0" marL="0">
              <a:buNone/>
            </a:pPr>
            <a:r>
              <a:rPr lang="en-US" sz="1600" b="1" dirty="0">
                <a:solidFill>
                  <a:srgbClr val="1565C0"/>
                </a:solidFill>
                <a:latin typeface="Arial" pitchFamily="34" charset="0"/>
                <a:ea typeface="Arial" pitchFamily="34" charset="-122"/>
                <a:cs typeface="Arial" pitchFamily="34" charset="-120"/>
              </a:rPr>
              <a:t>How does this support evolution?</a:t>
            </a:r>
            <a:endParaRPr lang="en-US" sz="1600" dirty="0"/>
          </a:p>
        </p:txBody>
      </p:sp>
      <p:sp>
        <p:nvSpPr>
          <p:cNvPr id="10" name="Text 7"/>
          <p:cNvSpPr/>
          <p:nvPr/>
        </p:nvSpPr>
        <p:spPr>
          <a:xfrm>
            <a:off x="5029200" y="4206240"/>
            <a:ext cx="6583680" cy="2103120"/>
          </a:xfrm>
          <a:prstGeom prst="rect">
            <a:avLst/>
          </a:prstGeom>
          <a:noFill/>
          <a:ln/>
        </p:spPr>
        <p:txBody>
          <a:bodyPr wrap="square" rtlCol="0" anchor="t"/>
          <a:lstStyle/>
          <a:p>
            <a:pPr indent="0" marL="0">
              <a:lnSpc>
                <a:spcPct val="135000"/>
              </a:lnSpc>
              <a:buNone/>
            </a:pPr>
            <a:r>
              <a:rPr lang="en-US" sz="1200" dirty="0">
                <a:solidFill>
                  <a:srgbClr val="424242"/>
                </a:solidFill>
                <a:latin typeface="Arial" pitchFamily="34" charset="0"/>
                <a:ea typeface="Arial" pitchFamily="34" charset="-122"/>
                <a:cs typeface="Arial" pitchFamily="34" charset="-120"/>
              </a:rPr>
              <a:t>The fact that all living things share the same genetic language is really strong evidence that life on Earth has one common origin. Evolution built on this original code leading to the variety of life we see today.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731520" y="365760"/>
            <a:ext cx="10698480" cy="731520"/>
          </a:xfrm>
          <a:prstGeom prst="rect">
            <a:avLst/>
          </a:prstGeom>
          <a:noFill/>
          <a:ln/>
        </p:spPr>
        <p:txBody>
          <a:bodyPr wrap="square" rtlCol="0" anchor="ctr"/>
          <a:lstStyle/>
          <a:p>
            <a:pPr algn="ctr" indent="0" marL="0">
              <a:buNone/>
            </a:pPr>
            <a:r>
              <a:rPr lang="en-US" sz="3200" b="1" dirty="0">
                <a:solidFill>
                  <a:srgbClr val="1A237E"/>
                </a:solidFill>
                <a:latin typeface="Arial" pitchFamily="34" charset="0"/>
                <a:ea typeface="Arial" pitchFamily="34" charset="-122"/>
                <a:cs typeface="Arial" pitchFamily="34" charset="-120"/>
              </a:rPr>
              <a:t>Summary</a:t>
            </a:r>
            <a:endParaRPr lang="en-US" sz="3200" dirty="0"/>
          </a:p>
        </p:txBody>
      </p:sp>
      <p:sp>
        <p:nvSpPr>
          <p:cNvPr id="4" name="Shape 2"/>
          <p:cNvSpPr/>
          <p:nvPr/>
        </p:nvSpPr>
        <p:spPr>
          <a:xfrm>
            <a:off x="5029200" y="1143000"/>
            <a:ext cx="2103120" cy="27432"/>
          </a:xfrm>
          <a:prstGeom prst="rect">
            <a:avLst/>
          </a:prstGeom>
          <a:solidFill>
            <a:srgbClr val="4285F4"/>
          </a:solidFill>
          <a:ln/>
        </p:spPr>
      </p:sp>
      <p:sp>
        <p:nvSpPr>
          <p:cNvPr id="5" name="Text 3"/>
          <p:cNvSpPr/>
          <p:nvPr/>
        </p:nvSpPr>
        <p:spPr>
          <a:xfrm>
            <a:off x="1828800" y="1554480"/>
            <a:ext cx="3200400" cy="548640"/>
          </a:xfrm>
          <a:prstGeom prst="rect">
            <a:avLst/>
          </a:prstGeom>
          <a:noFill/>
          <a:ln/>
        </p:spPr>
        <p:txBody>
          <a:bodyPr wrap="square" rtlCol="0" anchor="ctr"/>
          <a:lstStyle/>
          <a:p>
            <a:pPr indent="0" marL="0">
              <a:buNone/>
            </a:pPr>
            <a:r>
              <a:rPr lang="en-US" sz="1800" b="1" dirty="0">
                <a:solidFill>
                  <a:srgbClr val="1A237E"/>
                </a:solidFill>
                <a:latin typeface="Arial" pitchFamily="34" charset="0"/>
                <a:ea typeface="Arial" pitchFamily="34" charset="-122"/>
                <a:cs typeface="Arial" pitchFamily="34" charset="-120"/>
              </a:rPr>
              <a:t>🦴  Paleontology</a:t>
            </a:r>
            <a:endParaRPr lang="en-US" sz="1800" dirty="0"/>
          </a:p>
        </p:txBody>
      </p:sp>
      <p:sp>
        <p:nvSpPr>
          <p:cNvPr id="6" name="Text 4"/>
          <p:cNvSpPr/>
          <p:nvPr/>
        </p:nvSpPr>
        <p:spPr>
          <a:xfrm>
            <a:off x="5029200" y="1554480"/>
            <a:ext cx="5486400" cy="548640"/>
          </a:xfrm>
          <a:prstGeom prst="rect">
            <a:avLst/>
          </a:prstGeom>
          <a:noFill/>
          <a:ln/>
        </p:spPr>
        <p:txBody>
          <a:bodyPr wrap="square" rtlCol="0" anchor="ctr"/>
          <a:lstStyle/>
          <a:p>
            <a:pPr indent="0" marL="0">
              <a:buNone/>
            </a:pPr>
            <a:r>
              <a:rPr lang="en-US" sz="1400" dirty="0">
                <a:solidFill>
                  <a:srgbClr val="424242"/>
                </a:solidFill>
                <a:latin typeface="Arial" pitchFamily="34" charset="0"/>
                <a:ea typeface="Arial" pitchFamily="34" charset="-122"/>
                <a:cs typeface="Arial" pitchFamily="34" charset="-120"/>
              </a:rPr>
              <a:t>Fossil records show how life changed over millions of years</a:t>
            </a:r>
            <a:endParaRPr lang="en-US" sz="1400" dirty="0"/>
          </a:p>
        </p:txBody>
      </p:sp>
      <p:sp>
        <p:nvSpPr>
          <p:cNvPr id="7" name="Shape 5"/>
          <p:cNvSpPr/>
          <p:nvPr/>
        </p:nvSpPr>
        <p:spPr>
          <a:xfrm>
            <a:off x="1828800" y="2148840"/>
            <a:ext cx="8503920" cy="9144"/>
          </a:xfrm>
          <a:prstGeom prst="rect">
            <a:avLst/>
          </a:prstGeom>
          <a:solidFill>
            <a:srgbClr val="E0E0E0"/>
          </a:solidFill>
          <a:ln/>
        </p:spPr>
      </p:sp>
      <p:sp>
        <p:nvSpPr>
          <p:cNvPr id="8" name="Text 6"/>
          <p:cNvSpPr/>
          <p:nvPr/>
        </p:nvSpPr>
        <p:spPr>
          <a:xfrm>
            <a:off x="1828800" y="2331720"/>
            <a:ext cx="3200400" cy="548640"/>
          </a:xfrm>
          <a:prstGeom prst="rect">
            <a:avLst/>
          </a:prstGeom>
          <a:noFill/>
          <a:ln/>
        </p:spPr>
        <p:txBody>
          <a:bodyPr wrap="square" rtlCol="0" anchor="ctr"/>
          <a:lstStyle/>
          <a:p>
            <a:pPr indent="0" marL="0">
              <a:buNone/>
            </a:pPr>
            <a:r>
              <a:rPr lang="en-US" sz="1800" b="1" dirty="0">
                <a:solidFill>
                  <a:srgbClr val="1A237E"/>
                </a:solidFill>
                <a:latin typeface="Arial" pitchFamily="34" charset="0"/>
                <a:ea typeface="Arial" pitchFamily="34" charset="-122"/>
                <a:cs typeface="Arial" pitchFamily="34" charset="-120"/>
              </a:rPr>
              <a:t>🌍  Biogeography</a:t>
            </a:r>
            <a:endParaRPr lang="en-US" sz="1800" dirty="0"/>
          </a:p>
        </p:txBody>
      </p:sp>
      <p:sp>
        <p:nvSpPr>
          <p:cNvPr id="9" name="Text 7"/>
          <p:cNvSpPr/>
          <p:nvPr/>
        </p:nvSpPr>
        <p:spPr>
          <a:xfrm>
            <a:off x="5029200" y="2331720"/>
            <a:ext cx="5486400" cy="548640"/>
          </a:xfrm>
          <a:prstGeom prst="rect">
            <a:avLst/>
          </a:prstGeom>
          <a:noFill/>
          <a:ln/>
        </p:spPr>
        <p:txBody>
          <a:bodyPr wrap="square" rtlCol="0" anchor="ctr"/>
          <a:lstStyle/>
          <a:p>
            <a:pPr indent="0" marL="0">
              <a:buNone/>
            </a:pPr>
            <a:r>
              <a:rPr lang="en-US" sz="1400" dirty="0">
                <a:solidFill>
                  <a:srgbClr val="424242"/>
                </a:solidFill>
                <a:latin typeface="Arial" pitchFamily="34" charset="0"/>
                <a:ea typeface="Arial" pitchFamily="34" charset="-122"/>
                <a:cs typeface="Arial" pitchFamily="34" charset="-120"/>
              </a:rPr>
              <a:t>Where species live around the world reveals their shared history</a:t>
            </a:r>
            <a:endParaRPr lang="en-US" sz="1400" dirty="0"/>
          </a:p>
        </p:txBody>
      </p:sp>
      <p:sp>
        <p:nvSpPr>
          <p:cNvPr id="10" name="Shape 8"/>
          <p:cNvSpPr/>
          <p:nvPr/>
        </p:nvSpPr>
        <p:spPr>
          <a:xfrm>
            <a:off x="1828800" y="2926080"/>
            <a:ext cx="8503920" cy="9144"/>
          </a:xfrm>
          <a:prstGeom prst="rect">
            <a:avLst/>
          </a:prstGeom>
          <a:solidFill>
            <a:srgbClr val="E0E0E0"/>
          </a:solidFill>
          <a:ln/>
        </p:spPr>
      </p:sp>
      <p:sp>
        <p:nvSpPr>
          <p:cNvPr id="11" name="Text 9"/>
          <p:cNvSpPr/>
          <p:nvPr/>
        </p:nvSpPr>
        <p:spPr>
          <a:xfrm>
            <a:off x="1828800" y="3108960"/>
            <a:ext cx="3200400" cy="548640"/>
          </a:xfrm>
          <a:prstGeom prst="rect">
            <a:avLst/>
          </a:prstGeom>
          <a:noFill/>
          <a:ln/>
        </p:spPr>
        <p:txBody>
          <a:bodyPr wrap="square" rtlCol="0" anchor="ctr"/>
          <a:lstStyle/>
          <a:p>
            <a:pPr indent="0" marL="0">
              <a:buNone/>
            </a:pPr>
            <a:r>
              <a:rPr lang="en-US" sz="1800" b="1" dirty="0">
                <a:solidFill>
                  <a:srgbClr val="1A237E"/>
                </a:solidFill>
                <a:latin typeface="Arial" pitchFamily="34" charset="0"/>
                <a:ea typeface="Arial" pitchFamily="34" charset="-122"/>
                <a:cs typeface="Arial" pitchFamily="34" charset="-120"/>
              </a:rPr>
              <a:t>🥒  Embryology</a:t>
            </a:r>
            <a:endParaRPr lang="en-US" sz="1800" dirty="0"/>
          </a:p>
        </p:txBody>
      </p:sp>
      <p:sp>
        <p:nvSpPr>
          <p:cNvPr id="12" name="Text 10"/>
          <p:cNvSpPr/>
          <p:nvPr/>
        </p:nvSpPr>
        <p:spPr>
          <a:xfrm>
            <a:off x="5029200" y="3108960"/>
            <a:ext cx="5486400" cy="548640"/>
          </a:xfrm>
          <a:prstGeom prst="rect">
            <a:avLst/>
          </a:prstGeom>
          <a:noFill/>
          <a:ln/>
        </p:spPr>
        <p:txBody>
          <a:bodyPr wrap="square" rtlCol="0" anchor="ctr"/>
          <a:lstStyle/>
          <a:p>
            <a:pPr indent="0" marL="0">
              <a:buNone/>
            </a:pPr>
            <a:r>
              <a:rPr lang="en-US" sz="1400" dirty="0">
                <a:solidFill>
                  <a:srgbClr val="424242"/>
                </a:solidFill>
                <a:latin typeface="Arial" pitchFamily="34" charset="0"/>
                <a:ea typeface="Arial" pitchFamily="34" charset="-122"/>
                <a:cs typeface="Arial" pitchFamily="34" charset="-120"/>
              </a:rPr>
              <a:t>Embryo similarities between species show they have common ancestors</a:t>
            </a:r>
            <a:endParaRPr lang="en-US" sz="1400" dirty="0"/>
          </a:p>
        </p:txBody>
      </p:sp>
      <p:sp>
        <p:nvSpPr>
          <p:cNvPr id="13" name="Shape 11"/>
          <p:cNvSpPr/>
          <p:nvPr/>
        </p:nvSpPr>
        <p:spPr>
          <a:xfrm>
            <a:off x="1828800" y="3703320"/>
            <a:ext cx="8503920" cy="9144"/>
          </a:xfrm>
          <a:prstGeom prst="rect">
            <a:avLst/>
          </a:prstGeom>
          <a:solidFill>
            <a:srgbClr val="E0E0E0"/>
          </a:solidFill>
          <a:ln/>
        </p:spPr>
      </p:sp>
      <p:sp>
        <p:nvSpPr>
          <p:cNvPr id="14" name="Text 12"/>
          <p:cNvSpPr/>
          <p:nvPr/>
        </p:nvSpPr>
        <p:spPr>
          <a:xfrm>
            <a:off x="1828800" y="3886200"/>
            <a:ext cx="3200400" cy="548640"/>
          </a:xfrm>
          <a:prstGeom prst="rect">
            <a:avLst/>
          </a:prstGeom>
          <a:noFill/>
          <a:ln/>
        </p:spPr>
        <p:txBody>
          <a:bodyPr wrap="square" rtlCol="0" anchor="ctr"/>
          <a:lstStyle/>
          <a:p>
            <a:pPr indent="0" marL="0">
              <a:buNone/>
            </a:pPr>
            <a:r>
              <a:rPr lang="en-US" sz="1800" b="1" dirty="0">
                <a:solidFill>
                  <a:srgbClr val="1A237E"/>
                </a:solidFill>
                <a:latin typeface="Arial" pitchFamily="34" charset="0"/>
                <a:ea typeface="Arial" pitchFamily="34" charset="-122"/>
                <a:cs typeface="Arial" pitchFamily="34" charset="-120"/>
              </a:rPr>
              <a:t>🦴  Anatomy</a:t>
            </a:r>
            <a:endParaRPr lang="en-US" sz="1800" dirty="0"/>
          </a:p>
        </p:txBody>
      </p:sp>
      <p:sp>
        <p:nvSpPr>
          <p:cNvPr id="15" name="Text 13"/>
          <p:cNvSpPr/>
          <p:nvPr/>
        </p:nvSpPr>
        <p:spPr>
          <a:xfrm>
            <a:off x="5029200" y="3886200"/>
            <a:ext cx="5486400" cy="548640"/>
          </a:xfrm>
          <a:prstGeom prst="rect">
            <a:avLst/>
          </a:prstGeom>
          <a:noFill/>
          <a:ln/>
        </p:spPr>
        <p:txBody>
          <a:bodyPr wrap="square" rtlCol="0" anchor="ctr"/>
          <a:lstStyle/>
          <a:p>
            <a:pPr indent="0" marL="0">
              <a:buNone/>
            </a:pPr>
            <a:r>
              <a:rPr lang="en-US" sz="1400" dirty="0">
                <a:solidFill>
                  <a:srgbClr val="424242"/>
                </a:solidFill>
                <a:latin typeface="Arial" pitchFamily="34" charset="0"/>
                <a:ea typeface="Arial" pitchFamily="34" charset="-122"/>
                <a:cs typeface="Arial" pitchFamily="34" charset="-120"/>
              </a:rPr>
              <a:t>Comparing body structures links different species together</a:t>
            </a:r>
            <a:endParaRPr lang="en-US" sz="1400" dirty="0"/>
          </a:p>
        </p:txBody>
      </p:sp>
      <p:sp>
        <p:nvSpPr>
          <p:cNvPr id="16" name="Shape 14"/>
          <p:cNvSpPr/>
          <p:nvPr/>
        </p:nvSpPr>
        <p:spPr>
          <a:xfrm>
            <a:off x="1828800" y="4480560"/>
            <a:ext cx="8503920" cy="9144"/>
          </a:xfrm>
          <a:prstGeom prst="rect">
            <a:avLst/>
          </a:prstGeom>
          <a:solidFill>
            <a:srgbClr val="E0E0E0"/>
          </a:solidFill>
          <a:ln/>
        </p:spPr>
      </p:sp>
      <p:sp>
        <p:nvSpPr>
          <p:cNvPr id="17" name="Text 15"/>
          <p:cNvSpPr/>
          <p:nvPr/>
        </p:nvSpPr>
        <p:spPr>
          <a:xfrm>
            <a:off x="1828800" y="4663440"/>
            <a:ext cx="3200400" cy="548640"/>
          </a:xfrm>
          <a:prstGeom prst="rect">
            <a:avLst/>
          </a:prstGeom>
          <a:noFill/>
          <a:ln/>
        </p:spPr>
        <p:txBody>
          <a:bodyPr wrap="square" rtlCol="0" anchor="ctr"/>
          <a:lstStyle/>
          <a:p>
            <a:pPr indent="0" marL="0">
              <a:buNone/>
            </a:pPr>
            <a:r>
              <a:rPr lang="en-US" sz="1800" b="1" dirty="0">
                <a:solidFill>
                  <a:srgbClr val="1A237E"/>
                </a:solidFill>
                <a:latin typeface="Arial" pitchFamily="34" charset="0"/>
                <a:ea typeface="Arial" pitchFamily="34" charset="-122"/>
                <a:cs typeface="Arial" pitchFamily="34" charset="-120"/>
              </a:rPr>
              <a:t>🧬  Biochemistry</a:t>
            </a:r>
            <a:endParaRPr lang="en-US" sz="1800" dirty="0"/>
          </a:p>
        </p:txBody>
      </p:sp>
      <p:sp>
        <p:nvSpPr>
          <p:cNvPr id="18" name="Text 16"/>
          <p:cNvSpPr/>
          <p:nvPr/>
        </p:nvSpPr>
        <p:spPr>
          <a:xfrm>
            <a:off x="5029200" y="4663440"/>
            <a:ext cx="5486400" cy="548640"/>
          </a:xfrm>
          <a:prstGeom prst="rect">
            <a:avLst/>
          </a:prstGeom>
          <a:noFill/>
          <a:ln/>
        </p:spPr>
        <p:txBody>
          <a:bodyPr wrap="square" rtlCol="0" anchor="ctr"/>
          <a:lstStyle/>
          <a:p>
            <a:pPr indent="0" marL="0">
              <a:buNone/>
            </a:pPr>
            <a:r>
              <a:rPr lang="en-US" sz="1400" dirty="0">
                <a:solidFill>
                  <a:srgbClr val="424242"/>
                </a:solidFill>
                <a:latin typeface="Arial" pitchFamily="34" charset="0"/>
                <a:ea typeface="Arial" pitchFamily="34" charset="-122"/>
                <a:cs typeface="Arial" pitchFamily="34" charset="-120"/>
              </a:rPr>
              <a:t>DNA and proteins connect basically all living things</a:t>
            </a:r>
            <a:endParaRPr lang="en-US" sz="1400" dirty="0"/>
          </a:p>
        </p:txBody>
      </p:sp>
      <p:sp>
        <p:nvSpPr>
          <p:cNvPr id="19" name="Shape 17"/>
          <p:cNvSpPr/>
          <p:nvPr/>
        </p:nvSpPr>
        <p:spPr>
          <a:xfrm>
            <a:off x="1828800" y="5257800"/>
            <a:ext cx="8503920" cy="9144"/>
          </a:xfrm>
          <a:prstGeom prst="rect">
            <a:avLst/>
          </a:prstGeom>
          <a:solidFill>
            <a:srgbClr val="E0E0E0"/>
          </a:solidFill>
          <a:ln/>
        </p:spPr>
      </p:sp>
      <p:sp>
        <p:nvSpPr>
          <p:cNvPr id="20" name="Text 18"/>
          <p:cNvSpPr/>
          <p:nvPr/>
        </p:nvSpPr>
        <p:spPr>
          <a:xfrm>
            <a:off x="1371600" y="5669280"/>
            <a:ext cx="9418320" cy="640080"/>
          </a:xfrm>
          <a:prstGeom prst="rect">
            <a:avLst/>
          </a:prstGeom>
          <a:noFill/>
          <a:ln/>
        </p:spPr>
        <p:txBody>
          <a:bodyPr wrap="square" rtlCol="0" anchor="ctr"/>
          <a:lstStyle/>
          <a:p>
            <a:pPr algn="ctr" indent="0" marL="0">
              <a:buNone/>
            </a:pPr>
            <a:r>
              <a:rPr lang="en-US" sz="1300" i="1" dirty="0">
                <a:solidFill>
                  <a:srgbClr val="757575"/>
                </a:solidFill>
                <a:latin typeface="Arial" pitchFamily="34" charset="0"/>
                <a:ea typeface="Arial" pitchFamily="34" charset="-122"/>
                <a:cs typeface="Arial" pitchFamily="34" charset="-120"/>
              </a:rPr>
              <a:t>All of these types of evidence work together to show that life on Earth has changed over time through the process of evolution.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4285F4"/>
          </a:solidFill>
          <a:ln/>
        </p:spPr>
      </p:sp>
      <p:sp>
        <p:nvSpPr>
          <p:cNvPr id="3" name="Text 1"/>
          <p:cNvSpPr/>
          <p:nvPr/>
        </p:nvSpPr>
        <p:spPr>
          <a:xfrm>
            <a:off x="731520" y="274320"/>
            <a:ext cx="10698480" cy="640080"/>
          </a:xfrm>
          <a:prstGeom prst="rect">
            <a:avLst/>
          </a:prstGeom>
          <a:noFill/>
          <a:ln/>
        </p:spPr>
        <p:txBody>
          <a:bodyPr wrap="square" rtlCol="0" anchor="ctr"/>
          <a:lstStyle/>
          <a:p>
            <a:pPr algn="ctr" indent="0" marL="0">
              <a:buNone/>
            </a:pPr>
            <a:r>
              <a:rPr lang="en-US" sz="2800" b="1" dirty="0">
                <a:solidFill>
                  <a:srgbClr val="1A237E"/>
                </a:solidFill>
                <a:latin typeface="Arial" pitchFamily="34" charset="0"/>
                <a:ea typeface="Arial" pitchFamily="34" charset="-122"/>
                <a:cs typeface="Arial" pitchFamily="34" charset="-120"/>
              </a:rPr>
              <a:t>Citations</a:t>
            </a:r>
            <a:endParaRPr lang="en-US" sz="2800" dirty="0"/>
          </a:p>
        </p:txBody>
      </p:sp>
      <p:sp>
        <p:nvSpPr>
          <p:cNvPr id="4" name="Text 2"/>
          <p:cNvSpPr/>
          <p:nvPr/>
        </p:nvSpPr>
        <p:spPr>
          <a:xfrm>
            <a:off x="1097280" y="1097280"/>
            <a:ext cx="9966960" cy="5303520"/>
          </a:xfrm>
          <a:prstGeom prst="rect">
            <a:avLst/>
          </a:prstGeom>
          <a:noFill/>
          <a:ln/>
        </p:spPr>
        <p:txBody>
          <a:bodyPr wrap="square" rtlCol="0" anchor="t"/>
          <a:lstStyle/>
          <a:p>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 Britannica. "Archaeopteryx." britannica.com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2. National Geographic. "Tiktaalik." nationalgeographic.com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3. Khan Academy. "Evidence of Evolution." khanacademy.org</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4. Khan Academy. "Darwin's Finches." khanacademy.org</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5. Britannica. "Marsupial." britannica.com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6. National Geographic. "Cichlid Evolution." nationalgeographic.com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7. Khan Academy. "Embryology and Evolution." khanacademy.org</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8. Britannica. "Human Embryo Development." britannica.com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9. NCBI / NIH. "Limb Development." ncbi.nlm.nih.gov</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10. Khan Academy. "Homologous Structures." khanacademy.org</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11. Britannica. "Vestigial Organ." britannica.com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12. National Geographic. "Convergent Evolution." nationalgeographic.com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13. Khan Academy. "Molecular Evidence for Evolution." khanacademy.org</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14. Britannica. "Cytochrome." britannica.com</a:t>
            </a:r>
            <a:pPr indent="0" marL="0">
              <a:lnSpc>
                <a:spcPct val="120000"/>
              </a:lnSpc>
              <a:spcAft>
                <a:spcPts val="400"/>
              </a:spcAft>
              <a:buNone/>
            </a:pPr>
            <a:r>
              <a:rPr lang="en-US" sz="1100" dirty="0">
                <a:solidFill>
                  <a:srgbClr val="424242"/>
                </a:solidFill>
                <a:latin typeface="Arial" pitchFamily="34" charset="0"/>
                <a:ea typeface="Arial" pitchFamily="34" charset="-122"/>
                <a:cs typeface="Arial" pitchFamily="34" charset="-120"/>
              </a:rPr>
              <a:t>15. Khan Academy. "Universal Genetic Code." khanacademy.org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 of Evolution</dc:title>
  <dc:subject>Evidence of Evolution</dc:subject>
  <dc:creator>Student</dc:creator>
  <cp:lastModifiedBy>Student</cp:lastModifiedBy>
  <cp:revision>1</cp:revision>
  <dcterms:created xsi:type="dcterms:W3CDTF">2026-04-17T05:34:11Z</dcterms:created>
  <dcterms:modified xsi:type="dcterms:W3CDTF">2026-04-17T05:34:11Z</dcterms:modified>
</cp:coreProperties>
</file>